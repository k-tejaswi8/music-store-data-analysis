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60" r:id="rId5"/>
    <p:sldId id="261" r:id="rId6"/>
    <p:sldId id="262" r:id="rId7"/>
    <p:sldId id="263" r:id="rId8"/>
    <p:sldId id="265" r:id="rId9"/>
    <p:sldId id="264" r:id="rId10"/>
    <p:sldId id="266" r:id="rId11"/>
    <p:sldId id="267" r:id="rId12"/>
    <p:sldId id="268" r:id="rId13"/>
    <p:sldId id="269" r:id="rId14"/>
    <p:sldId id="270" r:id="rId15"/>
    <p:sldId id="271" r:id="rId16"/>
    <p:sldId id="259" r:id="rId17"/>
  </p:sldIdLst>
  <p:sldSz cx="12192000" cy="6858000"/>
  <p:notesSz cx="6858000" cy="9144000"/>
  <p:embeddedFontLst>
    <p:embeddedFont>
      <p:font typeface="Calibri" panose="020F0502020204030204" pitchFamily="34" charset="0"/>
      <p:regular r:id="rId19"/>
      <p:bold r:id="rId20"/>
      <p:italic r:id="rId21"/>
      <p:boldItalic r:id="rId22"/>
    </p:embeddedFont>
    <p:embeddedFont>
      <p:font typeface="Lato Black" panose="020B0604020202020204" charset="0"/>
      <p:bold r:id="rId23"/>
      <p:boldItalic r:id="rId24"/>
    </p:embeddedFont>
    <p:embeddedFont>
      <p:font typeface="Libre Baskerville" panose="020B060402020202020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51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k-tejaswi-2a4703398"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28136"/>
            <a:ext cx="12190815" cy="6858000"/>
          </a:xfrm>
          <a:prstGeom prst="rect">
            <a:avLst/>
          </a:prstGeom>
          <a:noFill/>
          <a:ln>
            <a:noFill/>
          </a:ln>
        </p:spPr>
      </p:pic>
      <p:sp>
        <p:nvSpPr>
          <p:cNvPr id="99" name="Google Shape;99;p1"/>
          <p:cNvSpPr txBox="1"/>
          <p:nvPr/>
        </p:nvSpPr>
        <p:spPr>
          <a:xfrm>
            <a:off x="2599513" y="3628403"/>
            <a:ext cx="7246189" cy="80017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br>
              <a:rPr lang="en-IN" sz="1800" b="0" i="0" u="none" strike="noStrike" cap="none" dirty="0">
                <a:solidFill>
                  <a:schemeClr val="dk1"/>
                </a:solidFill>
                <a:latin typeface="Calibri"/>
                <a:ea typeface="Calibri"/>
                <a:cs typeface="Calibri"/>
                <a:sym typeface="Calibri"/>
              </a:rPr>
            </a:br>
            <a:r>
              <a:rPr lang="en-IN" sz="2800" b="1" dirty="0">
                <a:solidFill>
                  <a:schemeClr val="dk1"/>
                </a:solidFill>
                <a:latin typeface="Times New Roman" panose="02020603050405020304" pitchFamily="18" charset="0"/>
                <a:ea typeface="Calibri"/>
                <a:cs typeface="Times New Roman" panose="02020603050405020304" pitchFamily="18" charset="0"/>
                <a:sym typeface="Calibri"/>
              </a:rPr>
              <a:t>MUSIC STORE DATA ANALYSIS</a:t>
            </a:r>
            <a:endParaRPr sz="28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4" name="TextBox 3">
            <a:extLst>
              <a:ext uri="{FF2B5EF4-FFF2-40B4-BE49-F238E27FC236}">
                <a16:creationId xmlns:a16="http://schemas.microsoft.com/office/drawing/2014/main" id="{73BFA7F2-0B88-49C8-A56B-B986A786BF59}"/>
              </a:ext>
            </a:extLst>
          </p:cNvPr>
          <p:cNvSpPr txBox="1"/>
          <p:nvPr/>
        </p:nvSpPr>
        <p:spPr>
          <a:xfrm>
            <a:off x="8690606" y="5148671"/>
            <a:ext cx="2056973" cy="1015663"/>
          </a:xfrm>
          <a:prstGeom prst="rect">
            <a:avLst/>
          </a:prstGeom>
          <a:noFill/>
        </p:spPr>
        <p:txBody>
          <a:bodyPr wrap="none" rtlCol="0">
            <a:spAutoFit/>
          </a:bodyPr>
          <a:lstStyle/>
          <a:p>
            <a:r>
              <a:rPr lang="en-US" sz="2000" dirty="0">
                <a:solidFill>
                  <a:srgbClr val="FF0000"/>
                </a:solidFill>
                <a:latin typeface="Times New Roman" panose="02020603050405020304" pitchFamily="18" charset="0"/>
                <a:cs typeface="Times New Roman" panose="02020603050405020304" pitchFamily="18" charset="0"/>
              </a:rPr>
              <a:t>Presented By</a:t>
            </a:r>
          </a:p>
          <a:p>
            <a:r>
              <a:rPr lang="en-US" sz="2000" dirty="0">
                <a:latin typeface="Times New Roman" panose="02020603050405020304" pitchFamily="18" charset="0"/>
                <a:cs typeface="Times New Roman" panose="02020603050405020304" pitchFamily="18" charset="0"/>
              </a:rPr>
              <a:t>Name : K </a:t>
            </a:r>
            <a:r>
              <a:rPr lang="en-US" sz="2000" dirty="0" err="1">
                <a:latin typeface="Times New Roman" panose="02020603050405020304" pitchFamily="18" charset="0"/>
                <a:cs typeface="Times New Roman" panose="02020603050405020304" pitchFamily="18" charset="0"/>
              </a:rPr>
              <a:t>Tejaswi</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Batch : 493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37812" y="1299172"/>
            <a:ext cx="7007400" cy="3416279"/>
          </a:xfrm>
          <a:prstGeom prst="rect">
            <a:avLst/>
          </a:prstGeom>
          <a:noFill/>
          <a:ln>
            <a:noFill/>
          </a:ln>
        </p:spPr>
        <p:txBody>
          <a:bodyPr spcFirstLastPara="1" wrap="square" lIns="91425" tIns="45700" rIns="91425" bIns="45700" anchor="t" anchorCtr="0">
            <a:spAutoFit/>
          </a:bodyPr>
          <a:lstStyle/>
          <a:p>
            <a:pPr marL="285750" marR="0" lvl="0" indent="-323850" algn="l" rtl="0">
              <a:lnSpc>
                <a:spcPct val="100000"/>
              </a:lnSpc>
              <a:spcBef>
                <a:spcPts val="0"/>
              </a:spcBef>
              <a:spcAft>
                <a:spcPts val="0"/>
              </a:spcAft>
              <a:buClr>
                <a:schemeClr val="dk1"/>
              </a:buClr>
              <a:buSzPts val="2400"/>
              <a:buFont typeface="Arial"/>
              <a:buChar char="•"/>
            </a:pPr>
            <a:r>
              <a:rPr lang="en-IN" sz="24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Background</a:t>
            </a:r>
          </a:p>
          <a:p>
            <a:pPr marR="0" lvl="0" algn="l" rtl="0">
              <a:lnSpc>
                <a:spcPct val="100000"/>
              </a:lnSpc>
              <a:spcBef>
                <a:spcPts val="0"/>
              </a:spcBef>
              <a:spcAft>
                <a:spcPts val="0"/>
              </a:spcAft>
              <a:buClr>
                <a:schemeClr val="dk1"/>
              </a:buClr>
              <a:buSzPts val="2400"/>
            </a:pPr>
            <a:endParaRPr sz="24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285750" marR="0" lvl="0" indent="-323850" algn="l" rtl="0">
              <a:lnSpc>
                <a:spcPct val="100000"/>
              </a:lnSpc>
              <a:spcBef>
                <a:spcPts val="0"/>
              </a:spcBef>
              <a:spcAft>
                <a:spcPts val="0"/>
              </a:spcAft>
              <a:buClr>
                <a:schemeClr val="dk1"/>
              </a:buClr>
              <a:buSzPts val="2400"/>
              <a:buFont typeface="Arial"/>
              <a:buChar char="•"/>
            </a:pPr>
            <a:endParaRPr lang="en-IN" sz="24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285750" marR="0" lvl="0" indent="-323850" algn="l" rtl="0">
              <a:lnSpc>
                <a:spcPct val="100000"/>
              </a:lnSpc>
              <a:spcBef>
                <a:spcPts val="0"/>
              </a:spcBef>
              <a:spcAft>
                <a:spcPts val="0"/>
              </a:spcAft>
              <a:buClr>
                <a:schemeClr val="dk1"/>
              </a:buClr>
              <a:buSzPts val="2400"/>
              <a:buFont typeface="Arial"/>
              <a:buChar char="•"/>
            </a:pPr>
            <a:endParaRPr lang="en-IN" sz="2400" dirty="0">
              <a:solidFill>
                <a:schemeClr val="dk1"/>
              </a:solidFill>
              <a:latin typeface="Times New Roman" panose="02020603050405020304" pitchFamily="18" charset="0"/>
              <a:ea typeface="Calibri"/>
              <a:cs typeface="Times New Roman" panose="02020603050405020304" pitchFamily="18" charset="0"/>
              <a:sym typeface="Calibri"/>
            </a:endParaRPr>
          </a:p>
          <a:p>
            <a:pPr marL="285750" marR="0" lvl="0" indent="-323850" algn="l" rtl="0">
              <a:lnSpc>
                <a:spcPct val="100000"/>
              </a:lnSpc>
              <a:spcBef>
                <a:spcPts val="0"/>
              </a:spcBef>
              <a:spcAft>
                <a:spcPts val="0"/>
              </a:spcAft>
              <a:buClr>
                <a:schemeClr val="dk1"/>
              </a:buClr>
              <a:buSzPts val="2400"/>
              <a:buFont typeface="Arial"/>
              <a:buChar char="•"/>
            </a:pPr>
            <a:r>
              <a:rPr lang="en-IN" sz="24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Why you want to learn Data Analytics</a:t>
            </a:r>
          </a:p>
          <a:p>
            <a:pPr marL="285750" marR="0" lvl="0" indent="-323850" algn="l" rtl="0">
              <a:lnSpc>
                <a:spcPct val="100000"/>
              </a:lnSpc>
              <a:spcBef>
                <a:spcPts val="0"/>
              </a:spcBef>
              <a:spcAft>
                <a:spcPts val="0"/>
              </a:spcAft>
              <a:buClr>
                <a:schemeClr val="dk1"/>
              </a:buClr>
              <a:buSzPts val="2400"/>
              <a:buFont typeface="Arial"/>
              <a:buChar char="•"/>
            </a:pPr>
            <a:endParaRPr sz="24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285750" marR="0" lvl="0" indent="-323850" algn="l" rtl="0">
              <a:lnSpc>
                <a:spcPct val="100000"/>
              </a:lnSpc>
              <a:spcBef>
                <a:spcPts val="0"/>
              </a:spcBef>
              <a:spcAft>
                <a:spcPts val="0"/>
              </a:spcAft>
              <a:buClr>
                <a:schemeClr val="dk1"/>
              </a:buClr>
              <a:buSzPts val="2400"/>
              <a:buFont typeface="Arial"/>
              <a:buChar char="•"/>
            </a:pPr>
            <a:endParaRPr lang="en-IN" sz="24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R="0" lvl="0" algn="l" rtl="0">
              <a:lnSpc>
                <a:spcPct val="100000"/>
              </a:lnSpc>
              <a:spcBef>
                <a:spcPts val="0"/>
              </a:spcBef>
              <a:spcAft>
                <a:spcPts val="0"/>
              </a:spcAft>
              <a:buClr>
                <a:schemeClr val="dk1"/>
              </a:buClr>
              <a:buSzPts val="2400"/>
            </a:pPr>
            <a:endParaRPr lang="en-IN" sz="2400" dirty="0">
              <a:solidFill>
                <a:schemeClr val="dk1"/>
              </a:solidFill>
              <a:latin typeface="Times New Roman" panose="02020603050405020304" pitchFamily="18" charset="0"/>
              <a:ea typeface="Calibri"/>
              <a:cs typeface="Times New Roman" panose="02020603050405020304" pitchFamily="18" charset="0"/>
              <a:sym typeface="Calibri"/>
            </a:endParaRPr>
          </a:p>
          <a:p>
            <a:pPr marL="342900" marR="0" lvl="0" indent="-342900" algn="l" rtl="0">
              <a:lnSpc>
                <a:spcPct val="100000"/>
              </a:lnSpc>
              <a:spcBef>
                <a:spcPts val="0"/>
              </a:spcBef>
              <a:spcAft>
                <a:spcPts val="0"/>
              </a:spcAft>
              <a:buClr>
                <a:schemeClr val="dk1"/>
              </a:buClr>
              <a:buSzPts val="2400"/>
              <a:buFont typeface="Arial" panose="020B0604020202020204" pitchFamily="34" charset="0"/>
              <a:buChar char="•"/>
            </a:pPr>
            <a:r>
              <a:rPr lang="en-IN" sz="24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Share your </a:t>
            </a:r>
            <a:r>
              <a:rPr lang="en-IN" sz="2400" dirty="0">
                <a:solidFill>
                  <a:schemeClr val="dk1"/>
                </a:solidFill>
                <a:latin typeface="Times New Roman" panose="02020603050405020304" pitchFamily="18" charset="0"/>
                <a:ea typeface="Calibri"/>
                <a:cs typeface="Times New Roman" panose="02020603050405020304" pitchFamily="18" charset="0"/>
                <a:sym typeface="Calibri"/>
              </a:rPr>
              <a:t>LinkedIn</a:t>
            </a:r>
            <a:r>
              <a:rPr lang="en-IN" sz="24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and </a:t>
            </a:r>
            <a:r>
              <a:rPr lang="en-IN" sz="2400" dirty="0">
                <a:solidFill>
                  <a:schemeClr val="dk1"/>
                </a:solidFill>
                <a:latin typeface="Times New Roman" panose="02020603050405020304" pitchFamily="18" charset="0"/>
                <a:ea typeface="Calibri"/>
                <a:cs typeface="Times New Roman" panose="02020603050405020304" pitchFamily="18" charset="0"/>
                <a:sym typeface="Calibri"/>
              </a:rPr>
              <a:t>GitHub</a:t>
            </a:r>
            <a:r>
              <a:rPr lang="en-IN" sz="24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profile </a:t>
            </a:r>
            <a:r>
              <a:rPr lang="en-IN" sz="2400" dirty="0">
                <a:solidFill>
                  <a:schemeClr val="dk1"/>
                </a:solidFill>
                <a:latin typeface="Times New Roman" panose="02020603050405020304" pitchFamily="18" charset="0"/>
                <a:ea typeface="Calibri"/>
                <a:cs typeface="Times New Roman" panose="02020603050405020304" pitchFamily="18" charset="0"/>
                <a:sym typeface="Calibri"/>
              </a:rPr>
              <a:t>URLs</a:t>
            </a:r>
            <a:endParaRPr sz="24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05" name="Google Shape;105;p3"/>
          <p:cNvSpPr txBox="1"/>
          <p:nvPr/>
        </p:nvSpPr>
        <p:spPr>
          <a:xfrm>
            <a:off x="427656" y="416554"/>
            <a:ext cx="6099600"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Times New Roman" panose="02020603050405020304" pitchFamily="18" charset="0"/>
                <a:ea typeface="Lato Black"/>
                <a:cs typeface="Times New Roman" panose="02020603050405020304" pitchFamily="18" charset="0"/>
                <a:sym typeface="Lato Black"/>
              </a:rPr>
              <a:t>About me</a:t>
            </a:r>
            <a:endParaRPr sz="1800" b="0"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
        <p:nvSpPr>
          <p:cNvPr id="2" name="Rectangle 1">
            <a:extLst>
              <a:ext uri="{FF2B5EF4-FFF2-40B4-BE49-F238E27FC236}">
                <a16:creationId xmlns:a16="http://schemas.microsoft.com/office/drawing/2014/main" id="{702EE7C5-C69E-4BE8-975B-7A28B7BF1C20}"/>
              </a:ext>
            </a:extLst>
          </p:cNvPr>
          <p:cNvSpPr>
            <a:spLocks noChangeArrowheads="1"/>
          </p:cNvSpPr>
          <p:nvPr/>
        </p:nvSpPr>
        <p:spPr bwMode="auto">
          <a:xfrm>
            <a:off x="907990" y="829880"/>
            <a:ext cx="10039928" cy="1704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MBA in Finance from MLR Institute of Technology and B.Sc. in Computer Science from Nizam College. </a:t>
            </a:r>
          </a:p>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Currently pursuing Data Analytics training at Innomatics Research Labs. </a:t>
            </a:r>
          </a:p>
        </p:txBody>
      </p:sp>
      <p:sp>
        <p:nvSpPr>
          <p:cNvPr id="3" name="Rectangle 2">
            <a:extLst>
              <a:ext uri="{FF2B5EF4-FFF2-40B4-BE49-F238E27FC236}">
                <a16:creationId xmlns:a16="http://schemas.microsoft.com/office/drawing/2014/main" id="{2F5E9D3A-C588-4408-88E3-53AEEB8460F9}"/>
              </a:ext>
            </a:extLst>
          </p:cNvPr>
          <p:cNvSpPr>
            <a:spLocks noChangeArrowheads="1"/>
          </p:cNvSpPr>
          <p:nvPr/>
        </p:nvSpPr>
        <p:spPr bwMode="auto">
          <a:xfrm>
            <a:off x="988400" y="2290258"/>
            <a:ext cx="9937336" cy="1704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Passionate about transforming data into meaningful insights. </a:t>
            </a:r>
          </a:p>
          <a:p>
            <a:pPr marL="0" marR="0" lvl="0" indent="0" defTabSz="914400" rtl="0" eaLnBrk="0" fontAlgn="base" latinLnBrk="0" hangingPunct="0">
              <a:lnSpc>
                <a:spcPct val="150000"/>
              </a:lnSpc>
              <a:spcBef>
                <a:spcPct val="0"/>
              </a:spcBef>
              <a:spcAft>
                <a:spcPct val="0"/>
              </a:spcAft>
              <a:buClrTx/>
              <a:buSzTx/>
              <a:tabLst/>
            </a:pPr>
            <a:r>
              <a:rPr lang="en-US" altLang="en-US" sz="1800" dirty="0">
                <a:solidFill>
                  <a:schemeClr val="tx1"/>
                </a:solidFill>
                <a:latin typeface="Times New Roman" panose="02020603050405020304" pitchFamily="18" charset="0"/>
                <a:cs typeface="Times New Roman" panose="02020603050405020304" pitchFamily="18" charset="0"/>
              </a:rPr>
              <a:t>I</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nterested in combining analytical, technical, and business skills to support data-driven decision-making</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4" name="Rectangle 3">
            <a:extLst>
              <a:ext uri="{FF2B5EF4-FFF2-40B4-BE49-F238E27FC236}">
                <a16:creationId xmlns:a16="http://schemas.microsoft.com/office/drawing/2014/main" id="{A829C87C-2B6D-491A-8A2D-AD4E3B514197}"/>
              </a:ext>
            </a:extLst>
          </p:cNvPr>
          <p:cNvSpPr>
            <a:spLocks noChangeArrowheads="1"/>
          </p:cNvSpPr>
          <p:nvPr/>
        </p:nvSpPr>
        <p:spPr bwMode="auto">
          <a:xfrm>
            <a:off x="988400" y="4051301"/>
            <a:ext cx="5820824" cy="1427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eaLnBrk="0" fontAlgn="base" hangingPunct="0">
              <a:lnSpc>
                <a:spcPct val="150000"/>
              </a:lnSpc>
              <a:spcBef>
                <a:spcPct val="0"/>
              </a:spcBef>
              <a:spcAft>
                <a:spcPct val="0"/>
              </a:spcAft>
              <a:buClrTx/>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LinkedIn</a:t>
            </a:r>
            <a:r>
              <a:rPr lang="en-US" altLang="en-US" sz="1800" dirty="0">
                <a:solidFill>
                  <a:schemeClr val="tx1"/>
                </a:solidFill>
                <a:latin typeface="Times New Roman" panose="02020603050405020304" pitchFamily="18" charset="0"/>
                <a:cs typeface="Times New Roman" panose="02020603050405020304" pitchFamily="18" charset="0"/>
              </a:rPr>
              <a:t>: </a:t>
            </a:r>
            <a:r>
              <a:rPr lang="en-US" altLang="en-US" sz="1800" dirty="0">
                <a:solidFill>
                  <a:schemeClr val="tx1"/>
                </a:solidFill>
                <a:latin typeface="Times New Roman" panose="02020603050405020304" pitchFamily="18" charset="0"/>
                <a:cs typeface="Times New Roman" panose="02020603050405020304" pitchFamily="18" charset="0"/>
                <a:hlinkClick r:id="rId3"/>
              </a:rPr>
              <a:t>https://www.linkedin.com/in/k-tejaswi-2a4703398</a:t>
            </a:r>
            <a:endParaRPr lang="en-US" altLang="en-US" sz="1800" dirty="0">
              <a:solidFill>
                <a:schemeClr val="tx1"/>
              </a:solidFill>
              <a:latin typeface="Times New Roman" panose="02020603050405020304" pitchFamily="18" charset="0"/>
              <a:cs typeface="Times New Roman" panose="02020603050405020304" pitchFamily="18" charset="0"/>
            </a:endParaRPr>
          </a:p>
          <a:p>
            <a:pPr lvl="0" eaLnBrk="0" fontAlgn="base" hangingPunct="0">
              <a:lnSpc>
                <a:spcPct val="150000"/>
              </a:lnSpc>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GitHub: https://github.com/Tejaswi-k8912</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588299" y="36556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sz="3200" b="1" dirty="0">
                <a:solidFill>
                  <a:srgbClr val="FF0000"/>
                </a:solidFill>
                <a:latin typeface="Times New Roman" panose="02020603050405020304" pitchFamily="18" charset="0"/>
                <a:cs typeface="Times New Roman" panose="02020603050405020304" pitchFamily="18" charset="0"/>
              </a:rPr>
              <a:t>Agenda</a:t>
            </a:r>
            <a:endParaRPr sz="3200" b="1" dirty="0">
              <a:solidFill>
                <a:srgbClr val="FF0000"/>
              </a:solidFill>
              <a:latin typeface="Times New Roman" panose="02020603050405020304" pitchFamily="18" charset="0"/>
              <a:cs typeface="Times New Roman" panose="02020603050405020304" pitchFamily="18" charset="0"/>
            </a:endParaRPr>
          </a:p>
        </p:txBody>
      </p:sp>
      <p:sp>
        <p:nvSpPr>
          <p:cNvPr id="2" name="Text Placeholder 1">
            <a:extLst>
              <a:ext uri="{FF2B5EF4-FFF2-40B4-BE49-F238E27FC236}">
                <a16:creationId xmlns:a16="http://schemas.microsoft.com/office/drawing/2014/main" id="{113CB118-7F72-415B-821E-84225DB740BB}"/>
              </a:ext>
            </a:extLst>
          </p:cNvPr>
          <p:cNvSpPr>
            <a:spLocks noGrp="1" noChangeArrowheads="1"/>
          </p:cNvSpPr>
          <p:nvPr>
            <p:ph type="body" idx="1"/>
          </p:nvPr>
        </p:nvSpPr>
        <p:spPr bwMode="auto">
          <a:xfrm>
            <a:off x="588299" y="1168241"/>
            <a:ext cx="371768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indent="0" eaLnBrk="0" fontAlgn="base" hangingPunct="0">
              <a:lnSpc>
                <a:spcPct val="200000"/>
              </a:lnSpc>
              <a:spcBef>
                <a:spcPct val="0"/>
              </a:spcBef>
              <a:spcAft>
                <a:spcPct val="0"/>
              </a:spcAft>
              <a:buClrTx/>
              <a:buSzTx/>
              <a:buNone/>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eaLnBrk="0" fontAlgn="base" hangingPunct="0">
              <a:lnSpc>
                <a:spcPct val="2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Business Problem </a:t>
            </a:r>
          </a:p>
          <a:p>
            <a:pPr marL="285750" indent="-285750" eaLnBrk="0" fontAlgn="base" hangingPunct="0">
              <a:lnSpc>
                <a:spcPct val="2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Schema &amp; Relationships </a:t>
            </a:r>
          </a:p>
          <a:p>
            <a:pPr marL="285750" indent="-285750" eaLnBrk="0" fontAlgn="base" hangingPunct="0">
              <a:lnSpc>
                <a:spcPct val="2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Import Process </a:t>
            </a:r>
          </a:p>
          <a:p>
            <a:pPr marL="285750" indent="-285750" eaLnBrk="0" fontAlgn="base" hangingPunct="0">
              <a:lnSpc>
                <a:spcPct val="2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Analysis &amp; Queries </a:t>
            </a:r>
          </a:p>
          <a:p>
            <a:pPr marL="285750" indent="-285750" eaLnBrk="0" fontAlgn="base" hangingPunct="0">
              <a:lnSpc>
                <a:spcPct val="2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Findings </a:t>
            </a:r>
          </a:p>
          <a:p>
            <a:pPr marL="285750" indent="-285750" eaLnBrk="0" fontAlgn="base" hangingPunct="0">
              <a:lnSpc>
                <a:spcPct val="200000"/>
              </a:lnSpc>
              <a:spcBef>
                <a:spcPct val="0"/>
              </a:spcBef>
              <a:spcAft>
                <a:spcPct val="0"/>
              </a:spcAft>
              <a:buClrTx/>
              <a:buSzTx/>
            </a:pPr>
            <a:r>
              <a:rPr lang="en-US" altLang="en-US" sz="1800" dirty="0">
                <a:solidFill>
                  <a:schemeClr val="tx1"/>
                </a:solidFill>
                <a:latin typeface="Times New Roman" panose="02020603050405020304" pitchFamily="18" charset="0"/>
                <a:cs typeface="Times New Roman" panose="02020603050405020304" pitchFamily="18" charset="0"/>
              </a:rPr>
              <a:t>Recommendations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eaLnBrk="0" fontAlgn="base" hangingPunct="0">
              <a:lnSpc>
                <a:spcPct val="2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Conclusio</a:t>
            </a:r>
            <a:r>
              <a:rPr lang="en-US" altLang="en-US" sz="1800" dirty="0">
                <a:solidFill>
                  <a:schemeClr val="tx1"/>
                </a:solidFill>
                <a:latin typeface="Times New Roman" panose="02020603050405020304" pitchFamily="18" charset="0"/>
                <a:cs typeface="Times New Roman" panose="02020603050405020304" pitchFamily="18" charset="0"/>
              </a:rPr>
              <a:t>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EEF62-FBBC-4896-AE84-7E17DE4E746A}"/>
              </a:ext>
            </a:extLst>
          </p:cNvPr>
          <p:cNvSpPr>
            <a:spLocks noGrp="1"/>
          </p:cNvSpPr>
          <p:nvPr>
            <p:ph type="title"/>
          </p:nvPr>
        </p:nvSpPr>
        <p:spPr>
          <a:xfrm>
            <a:off x="599049" y="0"/>
            <a:ext cx="10515600" cy="1325563"/>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Business Problem</a:t>
            </a:r>
          </a:p>
        </p:txBody>
      </p:sp>
      <p:sp>
        <p:nvSpPr>
          <p:cNvPr id="3" name="Rectangle 2">
            <a:extLst>
              <a:ext uri="{FF2B5EF4-FFF2-40B4-BE49-F238E27FC236}">
                <a16:creationId xmlns:a16="http://schemas.microsoft.com/office/drawing/2014/main" id="{B7832AEA-3265-4A3B-905C-6E7ED3E12244}"/>
              </a:ext>
            </a:extLst>
          </p:cNvPr>
          <p:cNvSpPr/>
          <p:nvPr/>
        </p:nvSpPr>
        <p:spPr>
          <a:xfrm>
            <a:off x="711590" y="912522"/>
            <a:ext cx="11175609" cy="2120068"/>
          </a:xfrm>
          <a:prstGeom prst="rect">
            <a:avLst/>
          </a:prstGeom>
        </p:spPr>
        <p:txBody>
          <a:bodyPr wrap="square">
            <a:spAutoFit/>
          </a:bodyPr>
          <a:lstStyle/>
          <a:p>
            <a:pPr>
              <a:lnSpc>
                <a:spcPct val="150000"/>
              </a:lnSpc>
            </a:pPr>
            <a:r>
              <a:rPr lang="en-US" sz="1800" b="1" dirty="0">
                <a:latin typeface="Times New Roman" panose="02020603050405020304" pitchFamily="18" charset="0"/>
                <a:cs typeface="Times New Roman" panose="02020603050405020304" pitchFamily="18" charset="0"/>
              </a:rPr>
              <a:t>Business Problem Statement</a:t>
            </a:r>
          </a:p>
          <a:p>
            <a:pPr>
              <a:lnSpc>
                <a:spcPct val="150000"/>
              </a:lnSpc>
            </a:pPr>
            <a:r>
              <a:rPr lang="en-US" sz="1800" dirty="0">
                <a:latin typeface="Times New Roman" panose="02020603050405020304" pitchFamily="18" charset="0"/>
                <a:cs typeface="Times New Roman" panose="02020603050405020304" pitchFamily="18" charset="0"/>
              </a:rPr>
              <a:t>The music store collects large amounts of data related to customers, artists, albums, tracks, invoices, and sales transactions. However, raw data alone does not provide meaningful business insights.</a:t>
            </a:r>
          </a:p>
          <a:p>
            <a:pPr>
              <a:lnSpc>
                <a:spcPct val="150000"/>
              </a:lnSpc>
            </a:pPr>
            <a:r>
              <a:rPr lang="en-US" sz="1800" dirty="0">
                <a:latin typeface="Times New Roman" panose="02020603050405020304" pitchFamily="18" charset="0"/>
                <a:cs typeface="Times New Roman" panose="02020603050405020304" pitchFamily="18" charset="0"/>
              </a:rPr>
              <a:t>The objective of this project is to analyze customer purchasing behavior, identify popular music genres and artists, understand sales performance, and extract actionable insights using SQL queries.</a:t>
            </a:r>
          </a:p>
        </p:txBody>
      </p:sp>
      <p:sp>
        <p:nvSpPr>
          <p:cNvPr id="4" name="Rectangle 3">
            <a:extLst>
              <a:ext uri="{FF2B5EF4-FFF2-40B4-BE49-F238E27FC236}">
                <a16:creationId xmlns:a16="http://schemas.microsoft.com/office/drawing/2014/main" id="{377CAB3C-586D-4D2D-9660-E7D6EDB4A209}"/>
              </a:ext>
            </a:extLst>
          </p:cNvPr>
          <p:cNvSpPr/>
          <p:nvPr/>
        </p:nvSpPr>
        <p:spPr>
          <a:xfrm>
            <a:off x="711590" y="3032590"/>
            <a:ext cx="6096000" cy="3366563"/>
          </a:xfrm>
          <a:prstGeom prst="rect">
            <a:avLst/>
          </a:prstGeom>
        </p:spPr>
        <p:txBody>
          <a:bodyPr>
            <a:spAutoFit/>
          </a:bodyPr>
          <a:lstStyle/>
          <a:p>
            <a:pPr>
              <a:lnSpc>
                <a:spcPct val="150000"/>
              </a:lnSpc>
            </a:pPr>
            <a:r>
              <a:rPr lang="en-US" sz="1800" b="1" dirty="0">
                <a:latin typeface="Times New Roman" panose="02020603050405020304" pitchFamily="18" charset="0"/>
                <a:cs typeface="Times New Roman" panose="02020603050405020304" pitchFamily="18" charset="0"/>
              </a:rPr>
              <a:t>Business Questions Addressed</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Who is the senior-most employee? </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Which customers contribute the highest revenue? </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What are the most popular music genres? </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Which artists generate the highest sales? </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How much do customers spend on different artists? </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What are the top genres in each country? </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Who is the top customer in each country?</a:t>
            </a:r>
          </a:p>
        </p:txBody>
      </p:sp>
    </p:spTree>
    <p:extLst>
      <p:ext uri="{BB962C8B-B14F-4D97-AF65-F5344CB8AC3E}">
        <p14:creationId xmlns:p14="http://schemas.microsoft.com/office/powerpoint/2010/main" val="385941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3F878E6-C58D-425E-82B0-EBC12846A6B0}"/>
              </a:ext>
            </a:extLst>
          </p:cNvPr>
          <p:cNvGraphicFramePr>
            <a:graphicFrameLocks noGrp="1"/>
          </p:cNvGraphicFramePr>
          <p:nvPr>
            <p:extLst>
              <p:ext uri="{D42A27DB-BD31-4B8C-83A1-F6EECF244321}">
                <p14:modId xmlns:p14="http://schemas.microsoft.com/office/powerpoint/2010/main" val="1189526779"/>
              </p:ext>
            </p:extLst>
          </p:nvPr>
        </p:nvGraphicFramePr>
        <p:xfrm>
          <a:off x="568960" y="1248505"/>
          <a:ext cx="8128000" cy="4867426"/>
        </p:xfrm>
        <a:graphic>
          <a:graphicData uri="http://schemas.openxmlformats.org/drawingml/2006/table">
            <a:tbl>
              <a:tblPr firstRow="1" bandRow="1">
                <a:tableStyleId>{F5AB1C69-6EDB-4FF4-983F-18BD219EF322}</a:tableStyleId>
              </a:tblPr>
              <a:tblGrid>
                <a:gridCol w="4064000">
                  <a:extLst>
                    <a:ext uri="{9D8B030D-6E8A-4147-A177-3AD203B41FA5}">
                      <a16:colId xmlns:a16="http://schemas.microsoft.com/office/drawing/2014/main" val="478611998"/>
                    </a:ext>
                  </a:extLst>
                </a:gridCol>
                <a:gridCol w="4064000">
                  <a:extLst>
                    <a:ext uri="{9D8B030D-6E8A-4147-A177-3AD203B41FA5}">
                      <a16:colId xmlns:a16="http://schemas.microsoft.com/office/drawing/2014/main" val="3709230941"/>
                    </a:ext>
                  </a:extLst>
                </a:gridCol>
              </a:tblGrid>
              <a:tr h="598056">
                <a:tc>
                  <a:txBody>
                    <a:bodyPr/>
                    <a:lstStyle/>
                    <a:p>
                      <a:pPr algn="ctr"/>
                      <a:r>
                        <a:rPr lang="en-US" sz="2400" dirty="0">
                          <a:latin typeface="Times New Roman" panose="02020603050405020304" pitchFamily="18" charset="0"/>
                          <a:cs typeface="Times New Roman" panose="02020603050405020304" pitchFamily="18" charset="0"/>
                        </a:rPr>
                        <a:t>Table</a:t>
                      </a:r>
                    </a:p>
                  </a:txBody>
                  <a:tcPr anchor="ctr"/>
                </a:tc>
                <a:tc>
                  <a:txBody>
                    <a:bodyPr/>
                    <a:lstStyle/>
                    <a:p>
                      <a:pPr algn="ctr"/>
                      <a:r>
                        <a:rPr lang="en-US" sz="2400" dirty="0">
                          <a:latin typeface="Times New Roman" panose="02020603050405020304" pitchFamily="18" charset="0"/>
                          <a:cs typeface="Times New Roman" panose="02020603050405020304" pitchFamily="18" charset="0"/>
                        </a:rPr>
                        <a:t>Purpose</a:t>
                      </a:r>
                    </a:p>
                  </a:txBody>
                  <a:tcPr anchor="ctr"/>
                </a:tc>
                <a:extLst>
                  <a:ext uri="{0D108BD9-81ED-4DB2-BD59-A6C34878D82A}">
                    <a16:rowId xmlns:a16="http://schemas.microsoft.com/office/drawing/2014/main" val="2524118199"/>
                  </a:ext>
                </a:extLst>
              </a:tr>
              <a:tr h="609910">
                <a:tc>
                  <a:txBody>
                    <a:bodyPr/>
                    <a:lstStyle/>
                    <a:p>
                      <a:pPr algn="ctr"/>
                      <a:r>
                        <a:rPr lang="en-US" sz="1800" dirty="0">
                          <a:latin typeface="Times New Roman" panose="02020603050405020304" pitchFamily="18" charset="0"/>
                          <a:cs typeface="Times New Roman" panose="02020603050405020304" pitchFamily="18" charset="0"/>
                        </a:rPr>
                        <a:t>Customer</a:t>
                      </a:r>
                    </a:p>
                  </a:txBody>
                  <a:tcPr/>
                </a:tc>
                <a:tc>
                  <a:txBody>
                    <a:bodyPr/>
                    <a:lstStyle/>
                    <a:p>
                      <a:pPr algn="ctr"/>
                      <a:r>
                        <a:rPr lang="en-US" sz="1800" dirty="0">
                          <a:latin typeface="Times New Roman" panose="02020603050405020304" pitchFamily="18" charset="0"/>
                          <a:cs typeface="Times New Roman" panose="02020603050405020304" pitchFamily="18" charset="0"/>
                        </a:rPr>
                        <a:t>Customer Information</a:t>
                      </a:r>
                    </a:p>
                  </a:txBody>
                  <a:tcPr anchor="ctr"/>
                </a:tc>
                <a:extLst>
                  <a:ext uri="{0D108BD9-81ED-4DB2-BD59-A6C34878D82A}">
                    <a16:rowId xmlns:a16="http://schemas.microsoft.com/office/drawing/2014/main" val="2128955648"/>
                  </a:ext>
                </a:extLst>
              </a:tr>
              <a:tr h="609910">
                <a:tc>
                  <a:txBody>
                    <a:bodyPr/>
                    <a:lstStyle/>
                    <a:p>
                      <a:pPr algn="ctr"/>
                      <a:r>
                        <a:rPr lang="en-US" sz="1800" dirty="0">
                          <a:latin typeface="Times New Roman" panose="02020603050405020304" pitchFamily="18" charset="0"/>
                          <a:cs typeface="Times New Roman" panose="02020603050405020304" pitchFamily="18" charset="0"/>
                        </a:rPr>
                        <a:t>Invoice</a:t>
                      </a:r>
                    </a:p>
                  </a:txBody>
                  <a:tcPr/>
                </a:tc>
                <a:tc>
                  <a:txBody>
                    <a:bodyPr/>
                    <a:lstStyle/>
                    <a:p>
                      <a:pPr algn="ctr"/>
                      <a:r>
                        <a:rPr lang="en-US" sz="1800" dirty="0">
                          <a:latin typeface="Times New Roman" panose="02020603050405020304" pitchFamily="18" charset="0"/>
                          <a:cs typeface="Times New Roman" panose="02020603050405020304" pitchFamily="18" charset="0"/>
                        </a:rPr>
                        <a:t>Purchase Transactions</a:t>
                      </a:r>
                    </a:p>
                  </a:txBody>
                  <a:tcPr/>
                </a:tc>
                <a:extLst>
                  <a:ext uri="{0D108BD9-81ED-4DB2-BD59-A6C34878D82A}">
                    <a16:rowId xmlns:a16="http://schemas.microsoft.com/office/drawing/2014/main" val="2877466283"/>
                  </a:ext>
                </a:extLst>
              </a:tr>
              <a:tr h="609910">
                <a:tc>
                  <a:txBody>
                    <a:bodyPr/>
                    <a:lstStyle/>
                    <a:p>
                      <a:pPr algn="ctr"/>
                      <a:r>
                        <a:rPr lang="en-US" sz="1800" dirty="0">
                          <a:latin typeface="Times New Roman" panose="02020603050405020304" pitchFamily="18" charset="0"/>
                          <a:cs typeface="Times New Roman" panose="02020603050405020304" pitchFamily="18" charset="0"/>
                        </a:rPr>
                        <a:t>Invoice line</a:t>
                      </a:r>
                    </a:p>
                  </a:txBody>
                  <a:tcPr/>
                </a:tc>
                <a:tc>
                  <a:txBody>
                    <a:bodyPr/>
                    <a:lstStyle/>
                    <a:p>
                      <a:pPr algn="ctr"/>
                      <a:r>
                        <a:rPr lang="en-US" sz="1800" dirty="0">
                          <a:latin typeface="Times New Roman" panose="02020603050405020304" pitchFamily="18" charset="0"/>
                          <a:cs typeface="Times New Roman" panose="02020603050405020304" pitchFamily="18" charset="0"/>
                        </a:rPr>
                        <a:t>Purchased Tracks</a:t>
                      </a:r>
                    </a:p>
                  </a:txBody>
                  <a:tcPr/>
                </a:tc>
                <a:extLst>
                  <a:ext uri="{0D108BD9-81ED-4DB2-BD59-A6C34878D82A}">
                    <a16:rowId xmlns:a16="http://schemas.microsoft.com/office/drawing/2014/main" val="2140471690"/>
                  </a:ext>
                </a:extLst>
              </a:tr>
              <a:tr h="609910">
                <a:tc>
                  <a:txBody>
                    <a:bodyPr/>
                    <a:lstStyle/>
                    <a:p>
                      <a:pPr algn="ctr"/>
                      <a:r>
                        <a:rPr lang="en-US" sz="1800" dirty="0">
                          <a:latin typeface="Times New Roman" panose="02020603050405020304" pitchFamily="18" charset="0"/>
                          <a:cs typeface="Times New Roman" panose="02020603050405020304" pitchFamily="18" charset="0"/>
                        </a:rPr>
                        <a:t>Track</a:t>
                      </a:r>
                    </a:p>
                  </a:txBody>
                  <a:tcPr/>
                </a:tc>
                <a:tc>
                  <a:txBody>
                    <a:bodyPr/>
                    <a:lstStyle/>
                    <a:p>
                      <a:pPr algn="ctr"/>
                      <a:r>
                        <a:rPr lang="en-US" sz="1800" dirty="0">
                          <a:latin typeface="Times New Roman" panose="02020603050405020304" pitchFamily="18" charset="0"/>
                          <a:cs typeface="Times New Roman" panose="02020603050405020304" pitchFamily="18" charset="0"/>
                        </a:rPr>
                        <a:t>Song Details</a:t>
                      </a:r>
                    </a:p>
                  </a:txBody>
                  <a:tcPr/>
                </a:tc>
                <a:extLst>
                  <a:ext uri="{0D108BD9-81ED-4DB2-BD59-A6C34878D82A}">
                    <a16:rowId xmlns:a16="http://schemas.microsoft.com/office/drawing/2014/main" val="808650416"/>
                  </a:ext>
                </a:extLst>
              </a:tr>
              <a:tr h="609910">
                <a:tc>
                  <a:txBody>
                    <a:bodyPr/>
                    <a:lstStyle/>
                    <a:p>
                      <a:pPr algn="ctr"/>
                      <a:r>
                        <a:rPr lang="en-US" sz="1800" dirty="0">
                          <a:latin typeface="Times New Roman" panose="02020603050405020304" pitchFamily="18" charset="0"/>
                          <a:cs typeface="Times New Roman" panose="02020603050405020304" pitchFamily="18" charset="0"/>
                        </a:rPr>
                        <a:t>Album</a:t>
                      </a:r>
                    </a:p>
                  </a:txBody>
                  <a:tcPr/>
                </a:tc>
                <a:tc>
                  <a:txBody>
                    <a:bodyPr/>
                    <a:lstStyle/>
                    <a:p>
                      <a:pPr algn="ctr"/>
                      <a:r>
                        <a:rPr lang="en-US" sz="1800" dirty="0">
                          <a:latin typeface="Times New Roman" panose="02020603050405020304" pitchFamily="18" charset="0"/>
                          <a:cs typeface="Times New Roman" panose="02020603050405020304" pitchFamily="18" charset="0"/>
                        </a:rPr>
                        <a:t>Album Details</a:t>
                      </a:r>
                    </a:p>
                  </a:txBody>
                  <a:tcPr/>
                </a:tc>
                <a:extLst>
                  <a:ext uri="{0D108BD9-81ED-4DB2-BD59-A6C34878D82A}">
                    <a16:rowId xmlns:a16="http://schemas.microsoft.com/office/drawing/2014/main" val="1338948330"/>
                  </a:ext>
                </a:extLst>
              </a:tr>
              <a:tr h="609910">
                <a:tc>
                  <a:txBody>
                    <a:bodyPr/>
                    <a:lstStyle/>
                    <a:p>
                      <a:pPr algn="ctr"/>
                      <a:r>
                        <a:rPr lang="en-US" sz="1800" dirty="0">
                          <a:latin typeface="Times New Roman" panose="02020603050405020304" pitchFamily="18" charset="0"/>
                          <a:cs typeface="Times New Roman" panose="02020603050405020304" pitchFamily="18" charset="0"/>
                        </a:rPr>
                        <a:t>Artist</a:t>
                      </a:r>
                    </a:p>
                  </a:txBody>
                  <a:tcPr/>
                </a:tc>
                <a:tc>
                  <a:txBody>
                    <a:bodyPr/>
                    <a:lstStyle/>
                    <a:p>
                      <a:pPr algn="ctr"/>
                      <a:r>
                        <a:rPr lang="en-US" sz="1800" dirty="0">
                          <a:latin typeface="Times New Roman" panose="02020603050405020304" pitchFamily="18" charset="0"/>
                          <a:cs typeface="Times New Roman" panose="02020603050405020304" pitchFamily="18" charset="0"/>
                        </a:rPr>
                        <a:t>Artist Information</a:t>
                      </a:r>
                    </a:p>
                  </a:txBody>
                  <a:tcPr/>
                </a:tc>
                <a:extLst>
                  <a:ext uri="{0D108BD9-81ED-4DB2-BD59-A6C34878D82A}">
                    <a16:rowId xmlns:a16="http://schemas.microsoft.com/office/drawing/2014/main" val="4140206405"/>
                  </a:ext>
                </a:extLst>
              </a:tr>
              <a:tr h="609910">
                <a:tc>
                  <a:txBody>
                    <a:bodyPr/>
                    <a:lstStyle/>
                    <a:p>
                      <a:pPr algn="ctr"/>
                      <a:r>
                        <a:rPr lang="en-US" sz="1800" dirty="0">
                          <a:latin typeface="Times New Roman" panose="02020603050405020304" pitchFamily="18" charset="0"/>
                          <a:cs typeface="Times New Roman" panose="02020603050405020304" pitchFamily="18" charset="0"/>
                        </a:rPr>
                        <a:t>Genre</a:t>
                      </a:r>
                    </a:p>
                  </a:txBody>
                  <a:tcPr/>
                </a:tc>
                <a:tc>
                  <a:txBody>
                    <a:bodyPr/>
                    <a:lstStyle/>
                    <a:p>
                      <a:pPr algn="ctr"/>
                      <a:r>
                        <a:rPr lang="en-US" sz="1800" dirty="0">
                          <a:latin typeface="Times New Roman" panose="02020603050405020304" pitchFamily="18" charset="0"/>
                          <a:cs typeface="Times New Roman" panose="02020603050405020304" pitchFamily="18" charset="0"/>
                        </a:rPr>
                        <a:t>Music Categories</a:t>
                      </a:r>
                    </a:p>
                  </a:txBody>
                  <a:tcPr/>
                </a:tc>
                <a:extLst>
                  <a:ext uri="{0D108BD9-81ED-4DB2-BD59-A6C34878D82A}">
                    <a16:rowId xmlns:a16="http://schemas.microsoft.com/office/drawing/2014/main" val="2579657808"/>
                  </a:ext>
                </a:extLst>
              </a:tr>
            </a:tbl>
          </a:graphicData>
        </a:graphic>
      </p:graphicFrame>
      <p:sp>
        <p:nvSpPr>
          <p:cNvPr id="4" name="Rectangle 3">
            <a:extLst>
              <a:ext uri="{FF2B5EF4-FFF2-40B4-BE49-F238E27FC236}">
                <a16:creationId xmlns:a16="http://schemas.microsoft.com/office/drawing/2014/main" id="{97709E08-3332-4355-B53B-68B8A1902C90}"/>
              </a:ext>
            </a:extLst>
          </p:cNvPr>
          <p:cNvSpPr/>
          <p:nvPr/>
        </p:nvSpPr>
        <p:spPr>
          <a:xfrm>
            <a:off x="568960" y="588180"/>
            <a:ext cx="6635150" cy="584775"/>
          </a:xfrm>
          <a:prstGeom prst="rect">
            <a:avLst/>
          </a:prstGeom>
        </p:spPr>
        <p:txBody>
          <a:bodyPr wrap="none">
            <a:spAutoFit/>
          </a:bodyPr>
          <a:lstStyle/>
          <a:p>
            <a:r>
              <a:rPr lang="en-US" sz="3200" b="1" dirty="0">
                <a:solidFill>
                  <a:srgbClr val="FF0000"/>
                </a:solidFill>
                <a:latin typeface="Times New Roman" panose="02020603050405020304" pitchFamily="18" charset="0"/>
                <a:cs typeface="Times New Roman" panose="02020603050405020304" pitchFamily="18" charset="0"/>
              </a:rPr>
              <a:t>Main Tables and Relationship Flow</a:t>
            </a:r>
            <a:endParaRPr lang="en-US" sz="3200" dirty="0"/>
          </a:p>
        </p:txBody>
      </p:sp>
      <p:sp>
        <p:nvSpPr>
          <p:cNvPr id="5" name="Rectangle 4">
            <a:extLst>
              <a:ext uri="{FF2B5EF4-FFF2-40B4-BE49-F238E27FC236}">
                <a16:creationId xmlns:a16="http://schemas.microsoft.com/office/drawing/2014/main" id="{D061DD53-3BBB-4DEF-A08E-5D85409A1B6D}"/>
              </a:ext>
            </a:extLst>
          </p:cNvPr>
          <p:cNvSpPr/>
          <p:nvPr/>
        </p:nvSpPr>
        <p:spPr>
          <a:xfrm>
            <a:off x="9158068" y="1122471"/>
            <a:ext cx="2053882" cy="4613058"/>
          </a:xfrm>
          <a:prstGeom prst="rect">
            <a:avLst/>
          </a:prstGeom>
        </p:spPr>
        <p:txBody>
          <a:bodyPr wrap="square">
            <a:spAutoFit/>
          </a:bodyPr>
          <a:lstStyle/>
          <a:p>
            <a:pPr>
              <a:lnSpc>
                <a:spcPct val="150000"/>
              </a:lnSpc>
            </a:pPr>
            <a:r>
              <a:rPr lang="en-US" sz="1800" dirty="0">
                <a:latin typeface="Times New Roman" panose="02020603050405020304" pitchFamily="18" charset="0"/>
                <a:cs typeface="Times New Roman" panose="02020603050405020304" pitchFamily="18" charset="0"/>
              </a:rPr>
              <a:t>Customer</a:t>
            </a:r>
          </a:p>
          <a:p>
            <a:pPr>
              <a:lnSpc>
                <a:spcPct val="150000"/>
              </a:lnSpc>
            </a:pPr>
            <a:r>
              <a:rPr lang="en-US" sz="1800" dirty="0">
                <a:latin typeface="Times New Roman" panose="02020603050405020304" pitchFamily="18" charset="0"/>
                <a:cs typeface="Times New Roman" panose="02020603050405020304" pitchFamily="18" charset="0"/>
              </a:rPr>
              <a:t>        ↓</a:t>
            </a:r>
          </a:p>
          <a:p>
            <a:pPr>
              <a:lnSpc>
                <a:spcPct val="150000"/>
              </a:lnSpc>
            </a:pPr>
            <a:r>
              <a:rPr lang="en-US" sz="1800" dirty="0">
                <a:latin typeface="Times New Roman" panose="02020603050405020304" pitchFamily="18" charset="0"/>
                <a:cs typeface="Times New Roman" panose="02020603050405020304" pitchFamily="18" charset="0"/>
              </a:rPr>
              <a:t>  Invoice</a:t>
            </a:r>
          </a:p>
          <a:p>
            <a:pPr>
              <a:lnSpc>
                <a:spcPct val="150000"/>
              </a:lnSpc>
            </a:pPr>
            <a:r>
              <a:rPr lang="en-US" sz="1800" dirty="0">
                <a:latin typeface="Times New Roman" panose="02020603050405020304" pitchFamily="18" charset="0"/>
                <a:cs typeface="Times New Roman" panose="02020603050405020304" pitchFamily="18" charset="0"/>
              </a:rPr>
              <a:t>        ↓</a:t>
            </a:r>
          </a:p>
          <a:p>
            <a:pPr>
              <a:lnSpc>
                <a:spcPct val="150000"/>
              </a:lnSpc>
            </a:pPr>
            <a:r>
              <a:rPr lang="en-US" sz="1800" dirty="0">
                <a:latin typeface="Times New Roman" panose="02020603050405020304" pitchFamily="18" charset="0"/>
                <a:cs typeface="Times New Roman" panose="02020603050405020304" pitchFamily="18" charset="0"/>
              </a:rPr>
              <a:t>Invoice Line</a:t>
            </a:r>
          </a:p>
          <a:p>
            <a:pPr>
              <a:lnSpc>
                <a:spcPct val="150000"/>
              </a:lnSpc>
            </a:pPr>
            <a:r>
              <a:rPr lang="en-US" sz="1800" dirty="0">
                <a:latin typeface="Times New Roman" panose="02020603050405020304" pitchFamily="18" charset="0"/>
                <a:cs typeface="Times New Roman" panose="02020603050405020304" pitchFamily="18" charset="0"/>
              </a:rPr>
              <a:t>        ↓</a:t>
            </a:r>
          </a:p>
          <a:p>
            <a:pPr>
              <a:lnSpc>
                <a:spcPct val="150000"/>
              </a:lnSpc>
            </a:pPr>
            <a:r>
              <a:rPr lang="en-US" sz="1800" dirty="0">
                <a:latin typeface="Times New Roman" panose="02020603050405020304" pitchFamily="18" charset="0"/>
                <a:cs typeface="Times New Roman" panose="02020603050405020304" pitchFamily="18" charset="0"/>
              </a:rPr>
              <a:t>    Track</a:t>
            </a:r>
          </a:p>
          <a:p>
            <a:pPr>
              <a:lnSpc>
                <a:spcPct val="150000"/>
              </a:lnSpc>
            </a:pPr>
            <a:r>
              <a:rPr lang="en-US" sz="1800" dirty="0">
                <a:latin typeface="Times New Roman" panose="02020603050405020304" pitchFamily="18" charset="0"/>
                <a:cs typeface="Times New Roman" panose="02020603050405020304" pitchFamily="18" charset="0"/>
              </a:rPr>
              <a:t>        ↓</a:t>
            </a:r>
          </a:p>
          <a:p>
            <a:pPr>
              <a:lnSpc>
                <a:spcPct val="150000"/>
              </a:lnSpc>
            </a:pPr>
            <a:r>
              <a:rPr lang="en-US" sz="1800" dirty="0">
                <a:latin typeface="Times New Roman" panose="02020603050405020304" pitchFamily="18" charset="0"/>
                <a:cs typeface="Times New Roman" panose="02020603050405020304" pitchFamily="18" charset="0"/>
              </a:rPr>
              <a:t>    Album</a:t>
            </a:r>
          </a:p>
          <a:p>
            <a:pPr>
              <a:lnSpc>
                <a:spcPct val="150000"/>
              </a:lnSpc>
            </a:pPr>
            <a:r>
              <a:rPr lang="en-US" sz="1800" dirty="0">
                <a:latin typeface="Times New Roman" panose="02020603050405020304" pitchFamily="18" charset="0"/>
                <a:cs typeface="Times New Roman" panose="02020603050405020304" pitchFamily="18" charset="0"/>
              </a:rPr>
              <a:t>        ↓</a:t>
            </a:r>
          </a:p>
          <a:p>
            <a:pPr>
              <a:lnSpc>
                <a:spcPct val="150000"/>
              </a:lnSpc>
            </a:pPr>
            <a:r>
              <a:rPr lang="en-US" sz="1800" dirty="0">
                <a:latin typeface="Times New Roman" panose="02020603050405020304" pitchFamily="18" charset="0"/>
                <a:cs typeface="Times New Roman" panose="02020603050405020304" pitchFamily="18" charset="0"/>
              </a:rPr>
              <a:t>     Artist</a:t>
            </a:r>
          </a:p>
        </p:txBody>
      </p:sp>
    </p:spTree>
    <p:extLst>
      <p:ext uri="{BB962C8B-B14F-4D97-AF65-F5344CB8AC3E}">
        <p14:creationId xmlns:p14="http://schemas.microsoft.com/office/powerpoint/2010/main" val="3315315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182A87-ED38-43F1-AD55-D4709EB56E10}"/>
              </a:ext>
            </a:extLst>
          </p:cNvPr>
          <p:cNvSpPr/>
          <p:nvPr/>
        </p:nvSpPr>
        <p:spPr>
          <a:xfrm>
            <a:off x="512205" y="0"/>
            <a:ext cx="3273653" cy="584775"/>
          </a:xfrm>
          <a:prstGeom prst="rect">
            <a:avLst/>
          </a:prstGeom>
        </p:spPr>
        <p:txBody>
          <a:bodyPr wrap="none">
            <a:spAutoFit/>
          </a:bodyPr>
          <a:lstStyle/>
          <a:p>
            <a:r>
              <a:rPr lang="en-US" sz="3200" b="1" dirty="0">
                <a:solidFill>
                  <a:srgbClr val="FF0000"/>
                </a:solidFill>
                <a:latin typeface="Times New Roman" panose="02020603050405020304" pitchFamily="18" charset="0"/>
                <a:cs typeface="Times New Roman" panose="02020603050405020304" pitchFamily="18" charset="0"/>
              </a:rPr>
              <a:t>Database Schema</a:t>
            </a:r>
          </a:p>
        </p:txBody>
      </p:sp>
      <p:pic>
        <p:nvPicPr>
          <p:cNvPr id="4" name="Picture 3">
            <a:extLst>
              <a:ext uri="{FF2B5EF4-FFF2-40B4-BE49-F238E27FC236}">
                <a16:creationId xmlns:a16="http://schemas.microsoft.com/office/drawing/2014/main" id="{640018FA-8EE1-4BCC-9D91-847A1A82C0B8}"/>
              </a:ext>
            </a:extLst>
          </p:cNvPr>
          <p:cNvPicPr>
            <a:picLocks noChangeAspect="1"/>
          </p:cNvPicPr>
          <p:nvPr/>
        </p:nvPicPr>
        <p:blipFill>
          <a:blip r:embed="rId2"/>
          <a:stretch>
            <a:fillRect/>
          </a:stretch>
        </p:blipFill>
        <p:spPr>
          <a:xfrm>
            <a:off x="512205" y="584775"/>
            <a:ext cx="11529739" cy="5619077"/>
          </a:xfrm>
          <a:prstGeom prst="rect">
            <a:avLst/>
          </a:prstGeom>
        </p:spPr>
      </p:pic>
    </p:spTree>
    <p:extLst>
      <p:ext uri="{BB962C8B-B14F-4D97-AF65-F5344CB8AC3E}">
        <p14:creationId xmlns:p14="http://schemas.microsoft.com/office/powerpoint/2010/main" val="630007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938401-BF83-4C5F-B737-A729C0B7FCBB}"/>
              </a:ext>
            </a:extLst>
          </p:cNvPr>
          <p:cNvSpPr/>
          <p:nvPr/>
        </p:nvSpPr>
        <p:spPr>
          <a:xfrm>
            <a:off x="740898" y="617101"/>
            <a:ext cx="6096000" cy="3412729"/>
          </a:xfrm>
          <a:prstGeom prst="rect">
            <a:avLst/>
          </a:prstGeom>
        </p:spPr>
        <p:txBody>
          <a:bodyPr>
            <a:spAutoFit/>
          </a:bodyPr>
          <a:lstStyle/>
          <a:p>
            <a:pPr>
              <a:lnSpc>
                <a:spcPct val="150000"/>
              </a:lnSpc>
            </a:pPr>
            <a:r>
              <a:rPr lang="en-US" sz="3200" b="1" dirty="0">
                <a:solidFill>
                  <a:srgbClr val="FF0000"/>
                </a:solidFill>
                <a:latin typeface="Times New Roman" panose="02020603050405020304" pitchFamily="18" charset="0"/>
                <a:cs typeface="Times New Roman" panose="02020603050405020304" pitchFamily="18" charset="0"/>
              </a:rPr>
              <a:t>Data Import Process</a:t>
            </a:r>
          </a:p>
          <a:p>
            <a:pPr>
              <a:lnSpc>
                <a:spcPct val="150000"/>
              </a:lnSpc>
            </a:pPr>
            <a:r>
              <a:rPr lang="en-US" sz="2400" b="1" dirty="0">
                <a:latin typeface="Times New Roman" panose="02020603050405020304" pitchFamily="18" charset="0"/>
                <a:cs typeface="Times New Roman" panose="02020603050405020304" pitchFamily="18" charset="0"/>
              </a:rPr>
              <a:t>Steps Performed</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Created Music Store Database </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Created all tables </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Defined Primary Keys </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Defined Foreign Keys </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Imported CSV files</a:t>
            </a:r>
          </a:p>
        </p:txBody>
      </p:sp>
      <p:sp>
        <p:nvSpPr>
          <p:cNvPr id="3" name="Rectangle 2">
            <a:extLst>
              <a:ext uri="{FF2B5EF4-FFF2-40B4-BE49-F238E27FC236}">
                <a16:creationId xmlns:a16="http://schemas.microsoft.com/office/drawing/2014/main" id="{BE9BDAED-FDAC-45EB-B208-E58835704588}"/>
              </a:ext>
            </a:extLst>
          </p:cNvPr>
          <p:cNvSpPr/>
          <p:nvPr/>
        </p:nvSpPr>
        <p:spPr>
          <a:xfrm>
            <a:off x="6616154" y="1899439"/>
            <a:ext cx="3080825" cy="4613058"/>
          </a:xfrm>
          <a:prstGeom prst="rect">
            <a:avLst/>
          </a:prstGeom>
        </p:spPr>
        <p:txBody>
          <a:bodyPr wrap="square">
            <a:spAutoFit/>
          </a:bodyPr>
          <a:lstStyle/>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Employee</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Customer</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Artist</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Album</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Genre</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MediaType</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Track</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Invoice</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InvoiceLine</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Playlist</a:t>
            </a: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PlaylistTrack</a:t>
            </a:r>
          </a:p>
        </p:txBody>
      </p:sp>
      <p:sp>
        <p:nvSpPr>
          <p:cNvPr id="5" name="TextBox 4">
            <a:extLst>
              <a:ext uri="{FF2B5EF4-FFF2-40B4-BE49-F238E27FC236}">
                <a16:creationId xmlns:a16="http://schemas.microsoft.com/office/drawing/2014/main" id="{70969FFD-D0B9-4CEA-BD7D-800B9F6EDA82}"/>
              </a:ext>
            </a:extLst>
          </p:cNvPr>
          <p:cNvSpPr txBox="1"/>
          <p:nvPr/>
        </p:nvSpPr>
        <p:spPr>
          <a:xfrm>
            <a:off x="6386732" y="1437774"/>
            <a:ext cx="2459328" cy="461665"/>
          </a:xfrm>
          <a:prstGeom prst="rect">
            <a:avLst/>
          </a:prstGeom>
          <a:noFill/>
        </p:spPr>
        <p:txBody>
          <a:bodyPr wrap="none" rtlCol="0">
            <a:spAutoFit/>
          </a:bodyPr>
          <a:lstStyle/>
          <a:p>
            <a:r>
              <a:rPr lang="en-US" sz="2400" b="1" dirty="0">
                <a:solidFill>
                  <a:schemeClr val="tx1"/>
                </a:solidFill>
                <a:latin typeface="Times New Roman" panose="02020603050405020304" pitchFamily="18" charset="0"/>
                <a:cs typeface="Times New Roman" panose="02020603050405020304" pitchFamily="18" charset="0"/>
              </a:rPr>
              <a:t> Tables Imported</a:t>
            </a:r>
            <a:endParaRPr lang="en-US" sz="2400" dirty="0">
              <a:solidFill>
                <a:schemeClr val="tx1"/>
              </a:solidFill>
            </a:endParaRPr>
          </a:p>
        </p:txBody>
      </p:sp>
    </p:spTree>
    <p:extLst>
      <p:ext uri="{BB962C8B-B14F-4D97-AF65-F5344CB8AC3E}">
        <p14:creationId xmlns:p14="http://schemas.microsoft.com/office/powerpoint/2010/main" val="2910122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D9DAA6-0604-43E2-AA73-6B10C38C5106}"/>
              </a:ext>
            </a:extLst>
          </p:cNvPr>
          <p:cNvSpPr/>
          <p:nvPr/>
        </p:nvSpPr>
        <p:spPr>
          <a:xfrm>
            <a:off x="483436" y="356705"/>
            <a:ext cx="5941050" cy="742511"/>
          </a:xfrm>
          <a:prstGeom prst="rect">
            <a:avLst/>
          </a:prstGeom>
        </p:spPr>
        <p:txBody>
          <a:bodyPr wrap="none">
            <a:spAutoFit/>
          </a:bodyPr>
          <a:lstStyle/>
          <a:p>
            <a:pPr>
              <a:lnSpc>
                <a:spcPct val="150000"/>
              </a:lnSpc>
            </a:pPr>
            <a:r>
              <a:rPr lang="en-US" sz="3200" b="1" dirty="0">
                <a:solidFill>
                  <a:srgbClr val="FF0000"/>
                </a:solidFill>
                <a:latin typeface="Times New Roman" panose="02020603050405020304" pitchFamily="18" charset="0"/>
                <a:cs typeface="Times New Roman" panose="02020603050405020304" pitchFamily="18" charset="0"/>
              </a:rPr>
              <a:t>Queries and Analysis of the Data</a:t>
            </a:r>
          </a:p>
        </p:txBody>
      </p:sp>
      <p:sp>
        <p:nvSpPr>
          <p:cNvPr id="3" name="Rectangle 2">
            <a:extLst>
              <a:ext uri="{FF2B5EF4-FFF2-40B4-BE49-F238E27FC236}">
                <a16:creationId xmlns:a16="http://schemas.microsoft.com/office/drawing/2014/main" id="{CD4F12C1-8BF8-4CEB-B20C-565114854C25}"/>
              </a:ext>
            </a:extLst>
          </p:cNvPr>
          <p:cNvSpPr/>
          <p:nvPr/>
        </p:nvSpPr>
        <p:spPr>
          <a:xfrm>
            <a:off x="483436" y="1099216"/>
            <a:ext cx="6096000" cy="1289071"/>
          </a:xfrm>
          <a:prstGeom prst="rect">
            <a:avLst/>
          </a:prstGeom>
        </p:spPr>
        <p:txBody>
          <a:bodyPr>
            <a:spAutoFit/>
          </a:bodyPr>
          <a:lstStyle/>
          <a:p>
            <a:pPr>
              <a:lnSpc>
                <a:spcPct val="150000"/>
              </a:lnSpc>
            </a:pPr>
            <a:r>
              <a:rPr lang="en-US" sz="1800" b="1" dirty="0">
                <a:latin typeface="Times New Roman" panose="02020603050405020304" pitchFamily="18" charset="0"/>
                <a:cs typeface="Times New Roman" panose="02020603050405020304" pitchFamily="18" charset="0"/>
              </a:rPr>
              <a:t>Business Question</a:t>
            </a:r>
          </a:p>
          <a:p>
            <a:pPr>
              <a:lnSpc>
                <a:spcPct val="150000"/>
              </a:lnSpc>
            </a:pPr>
            <a:r>
              <a:rPr lang="en-US" sz="1800" dirty="0">
                <a:latin typeface="Times New Roman" panose="02020603050405020304" pitchFamily="18" charset="0"/>
                <a:cs typeface="Times New Roman" panose="02020603050405020304" pitchFamily="18" charset="0"/>
              </a:rPr>
              <a:t>Who is the senior-most employee based on job title?</a:t>
            </a:r>
          </a:p>
          <a:p>
            <a:pPr>
              <a:lnSpc>
                <a:spcPct val="150000"/>
              </a:lnSpc>
            </a:pPr>
            <a:endParaRPr lang="en-US"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AC61CD6-C411-4368-9BAC-D919CD1FF0DE}"/>
              </a:ext>
            </a:extLst>
          </p:cNvPr>
          <p:cNvPicPr>
            <a:picLocks noChangeAspect="1"/>
          </p:cNvPicPr>
          <p:nvPr/>
        </p:nvPicPr>
        <p:blipFill>
          <a:blip r:embed="rId2"/>
          <a:stretch>
            <a:fillRect/>
          </a:stretch>
        </p:blipFill>
        <p:spPr>
          <a:xfrm>
            <a:off x="593773" y="2159247"/>
            <a:ext cx="3739075" cy="1470218"/>
          </a:xfrm>
          <a:prstGeom prst="rect">
            <a:avLst/>
          </a:prstGeom>
        </p:spPr>
      </p:pic>
      <p:pic>
        <p:nvPicPr>
          <p:cNvPr id="5" name="Picture 4">
            <a:extLst>
              <a:ext uri="{FF2B5EF4-FFF2-40B4-BE49-F238E27FC236}">
                <a16:creationId xmlns:a16="http://schemas.microsoft.com/office/drawing/2014/main" id="{12338C29-9938-4BF0-8365-7C934EE17952}"/>
              </a:ext>
            </a:extLst>
          </p:cNvPr>
          <p:cNvPicPr>
            <a:picLocks noChangeAspect="1"/>
          </p:cNvPicPr>
          <p:nvPr/>
        </p:nvPicPr>
        <p:blipFill>
          <a:blip r:embed="rId3"/>
          <a:stretch>
            <a:fillRect/>
          </a:stretch>
        </p:blipFill>
        <p:spPr>
          <a:xfrm>
            <a:off x="5613009" y="2046107"/>
            <a:ext cx="4923692" cy="1382894"/>
          </a:xfrm>
          <a:prstGeom prst="rect">
            <a:avLst/>
          </a:prstGeom>
        </p:spPr>
      </p:pic>
      <p:sp>
        <p:nvSpPr>
          <p:cNvPr id="6" name="Rectangle 5">
            <a:extLst>
              <a:ext uri="{FF2B5EF4-FFF2-40B4-BE49-F238E27FC236}">
                <a16:creationId xmlns:a16="http://schemas.microsoft.com/office/drawing/2014/main" id="{976B6CB0-8773-4967-B058-9C31651C1356}"/>
              </a:ext>
            </a:extLst>
          </p:cNvPr>
          <p:cNvSpPr/>
          <p:nvPr/>
        </p:nvSpPr>
        <p:spPr>
          <a:xfrm>
            <a:off x="523367" y="3596142"/>
            <a:ext cx="6096000" cy="873572"/>
          </a:xfrm>
          <a:prstGeom prst="rect">
            <a:avLst/>
          </a:prstGeom>
        </p:spPr>
        <p:txBody>
          <a:bodyPr>
            <a:spAutoFit/>
          </a:bodyPr>
          <a:lstStyle/>
          <a:p>
            <a:pPr>
              <a:lnSpc>
                <a:spcPct val="150000"/>
              </a:lnSpc>
            </a:pPr>
            <a:r>
              <a:rPr lang="en-US" sz="1800" b="1" dirty="0">
                <a:latin typeface="Times New Roman" panose="02020603050405020304" pitchFamily="18" charset="0"/>
                <a:cs typeface="Times New Roman" panose="02020603050405020304" pitchFamily="18" charset="0"/>
              </a:rPr>
              <a:t>Business Question</a:t>
            </a:r>
          </a:p>
          <a:p>
            <a:pPr>
              <a:lnSpc>
                <a:spcPct val="150000"/>
              </a:lnSpc>
            </a:pPr>
            <a:r>
              <a:rPr lang="en-US" sz="1800" dirty="0">
                <a:latin typeface="Times New Roman" panose="02020603050405020304" pitchFamily="18" charset="0"/>
                <a:cs typeface="Times New Roman" panose="02020603050405020304" pitchFamily="18" charset="0"/>
              </a:rPr>
              <a:t>What are the countries with most invoices?</a:t>
            </a:r>
          </a:p>
        </p:txBody>
      </p:sp>
      <p:pic>
        <p:nvPicPr>
          <p:cNvPr id="7" name="Picture 6">
            <a:extLst>
              <a:ext uri="{FF2B5EF4-FFF2-40B4-BE49-F238E27FC236}">
                <a16:creationId xmlns:a16="http://schemas.microsoft.com/office/drawing/2014/main" id="{DB079E98-DB91-4AB8-A052-B792E4232B31}"/>
              </a:ext>
            </a:extLst>
          </p:cNvPr>
          <p:cNvPicPr>
            <a:picLocks noChangeAspect="1"/>
          </p:cNvPicPr>
          <p:nvPr/>
        </p:nvPicPr>
        <p:blipFill>
          <a:blip r:embed="rId4"/>
          <a:stretch>
            <a:fillRect/>
          </a:stretch>
        </p:blipFill>
        <p:spPr>
          <a:xfrm>
            <a:off x="745588" y="4689496"/>
            <a:ext cx="3967090" cy="1798405"/>
          </a:xfrm>
          <a:prstGeom prst="rect">
            <a:avLst/>
          </a:prstGeom>
        </p:spPr>
      </p:pic>
      <p:pic>
        <p:nvPicPr>
          <p:cNvPr id="8" name="Picture 7">
            <a:extLst>
              <a:ext uri="{FF2B5EF4-FFF2-40B4-BE49-F238E27FC236}">
                <a16:creationId xmlns:a16="http://schemas.microsoft.com/office/drawing/2014/main" id="{BD455350-FB84-4A6F-9294-0FB71BF5963B}"/>
              </a:ext>
            </a:extLst>
          </p:cNvPr>
          <p:cNvPicPr>
            <a:picLocks noChangeAspect="1"/>
          </p:cNvPicPr>
          <p:nvPr/>
        </p:nvPicPr>
        <p:blipFill>
          <a:blip r:embed="rId5"/>
          <a:stretch>
            <a:fillRect/>
          </a:stretch>
        </p:blipFill>
        <p:spPr>
          <a:xfrm>
            <a:off x="5660049" y="3429000"/>
            <a:ext cx="3596493" cy="2831123"/>
          </a:xfrm>
          <a:prstGeom prst="rect">
            <a:avLst/>
          </a:prstGeom>
        </p:spPr>
      </p:pic>
    </p:spTree>
    <p:extLst>
      <p:ext uri="{BB962C8B-B14F-4D97-AF65-F5344CB8AC3E}">
        <p14:creationId xmlns:p14="http://schemas.microsoft.com/office/powerpoint/2010/main" val="3533874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D23BD25-DA44-4A81-BE9D-5B825F07A3B2}"/>
              </a:ext>
            </a:extLst>
          </p:cNvPr>
          <p:cNvSpPr/>
          <p:nvPr/>
        </p:nvSpPr>
        <p:spPr>
          <a:xfrm>
            <a:off x="347003" y="265461"/>
            <a:ext cx="6096000" cy="873572"/>
          </a:xfrm>
          <a:prstGeom prst="rect">
            <a:avLst/>
          </a:prstGeom>
        </p:spPr>
        <p:txBody>
          <a:bodyPr>
            <a:spAutoFit/>
          </a:bodyPr>
          <a:lstStyle/>
          <a:p>
            <a:pPr>
              <a:lnSpc>
                <a:spcPct val="150000"/>
              </a:lnSpc>
            </a:pPr>
            <a:r>
              <a:rPr lang="en-US" sz="1800" b="1" dirty="0">
                <a:latin typeface="Times New Roman" panose="02020603050405020304" pitchFamily="18" charset="0"/>
                <a:cs typeface="Times New Roman" panose="02020603050405020304" pitchFamily="18" charset="0"/>
              </a:rPr>
              <a:t>Business Question</a:t>
            </a:r>
          </a:p>
          <a:p>
            <a:pPr>
              <a:lnSpc>
                <a:spcPct val="150000"/>
              </a:lnSpc>
            </a:pPr>
            <a:r>
              <a:rPr lang="en-US" sz="1800" dirty="0">
                <a:latin typeface="Times New Roman" panose="02020603050405020304" pitchFamily="18" charset="0"/>
                <a:cs typeface="Times New Roman" panose="02020603050405020304" pitchFamily="18" charset="0"/>
              </a:rPr>
              <a:t>What is the city with highest revenue?</a:t>
            </a:r>
          </a:p>
        </p:txBody>
      </p:sp>
      <p:pic>
        <p:nvPicPr>
          <p:cNvPr id="3" name="Picture 2">
            <a:extLst>
              <a:ext uri="{FF2B5EF4-FFF2-40B4-BE49-F238E27FC236}">
                <a16:creationId xmlns:a16="http://schemas.microsoft.com/office/drawing/2014/main" id="{024D98C2-21E3-437F-9705-25393E05B025}"/>
              </a:ext>
            </a:extLst>
          </p:cNvPr>
          <p:cNvPicPr>
            <a:picLocks noChangeAspect="1"/>
          </p:cNvPicPr>
          <p:nvPr/>
        </p:nvPicPr>
        <p:blipFill>
          <a:blip r:embed="rId2"/>
          <a:stretch>
            <a:fillRect/>
          </a:stretch>
        </p:blipFill>
        <p:spPr>
          <a:xfrm>
            <a:off x="520797" y="1341852"/>
            <a:ext cx="4093406" cy="1837445"/>
          </a:xfrm>
          <a:prstGeom prst="rect">
            <a:avLst/>
          </a:prstGeom>
        </p:spPr>
      </p:pic>
      <p:pic>
        <p:nvPicPr>
          <p:cNvPr id="5" name="Picture 4">
            <a:extLst>
              <a:ext uri="{FF2B5EF4-FFF2-40B4-BE49-F238E27FC236}">
                <a16:creationId xmlns:a16="http://schemas.microsoft.com/office/drawing/2014/main" id="{36653637-D953-4781-A59C-2DE942072D5B}"/>
              </a:ext>
            </a:extLst>
          </p:cNvPr>
          <p:cNvPicPr>
            <a:picLocks noChangeAspect="1"/>
          </p:cNvPicPr>
          <p:nvPr/>
        </p:nvPicPr>
        <p:blipFill>
          <a:blip r:embed="rId3"/>
          <a:stretch>
            <a:fillRect/>
          </a:stretch>
        </p:blipFill>
        <p:spPr>
          <a:xfrm>
            <a:off x="6096000" y="1376566"/>
            <a:ext cx="3385628" cy="1303093"/>
          </a:xfrm>
          <a:prstGeom prst="rect">
            <a:avLst/>
          </a:prstGeom>
        </p:spPr>
      </p:pic>
      <p:sp>
        <p:nvSpPr>
          <p:cNvPr id="8" name="Rectangle 7">
            <a:extLst>
              <a:ext uri="{FF2B5EF4-FFF2-40B4-BE49-F238E27FC236}">
                <a16:creationId xmlns:a16="http://schemas.microsoft.com/office/drawing/2014/main" id="{EF51D792-437C-4293-94CD-F5841295CF00}"/>
              </a:ext>
            </a:extLst>
          </p:cNvPr>
          <p:cNvSpPr/>
          <p:nvPr/>
        </p:nvSpPr>
        <p:spPr>
          <a:xfrm>
            <a:off x="347003" y="3249634"/>
            <a:ext cx="6096000" cy="873572"/>
          </a:xfrm>
          <a:prstGeom prst="rect">
            <a:avLst/>
          </a:prstGeom>
        </p:spPr>
        <p:txBody>
          <a:bodyPr>
            <a:spAutoFit/>
          </a:bodyPr>
          <a:lstStyle/>
          <a:p>
            <a:pPr>
              <a:lnSpc>
                <a:spcPct val="150000"/>
              </a:lnSpc>
            </a:pPr>
            <a:r>
              <a:rPr lang="en-US" sz="1800" b="1" dirty="0">
                <a:latin typeface="Times New Roman" panose="02020603050405020304" pitchFamily="18" charset="0"/>
                <a:cs typeface="Times New Roman" panose="02020603050405020304" pitchFamily="18" charset="0"/>
              </a:rPr>
              <a:t>Business Question</a:t>
            </a:r>
          </a:p>
          <a:p>
            <a:pPr>
              <a:lnSpc>
                <a:spcPct val="150000"/>
              </a:lnSpc>
            </a:pPr>
            <a:r>
              <a:rPr lang="en-US" sz="1800" dirty="0">
                <a:latin typeface="Times New Roman" panose="02020603050405020304" pitchFamily="18" charset="0"/>
                <a:cs typeface="Times New Roman" panose="02020603050405020304" pitchFamily="18" charset="0"/>
              </a:rPr>
              <a:t>Who is the customer spent most on the music?</a:t>
            </a:r>
          </a:p>
        </p:txBody>
      </p:sp>
      <p:pic>
        <p:nvPicPr>
          <p:cNvPr id="4" name="Picture 3">
            <a:extLst>
              <a:ext uri="{FF2B5EF4-FFF2-40B4-BE49-F238E27FC236}">
                <a16:creationId xmlns:a16="http://schemas.microsoft.com/office/drawing/2014/main" id="{07C436C9-B9B5-4C57-B73E-0F97B852E0F7}"/>
              </a:ext>
            </a:extLst>
          </p:cNvPr>
          <p:cNvPicPr>
            <a:picLocks noChangeAspect="1"/>
          </p:cNvPicPr>
          <p:nvPr/>
        </p:nvPicPr>
        <p:blipFill>
          <a:blip r:embed="rId4"/>
          <a:stretch>
            <a:fillRect/>
          </a:stretch>
        </p:blipFill>
        <p:spPr>
          <a:xfrm>
            <a:off x="520797" y="4193543"/>
            <a:ext cx="4093406" cy="2239634"/>
          </a:xfrm>
          <a:prstGeom prst="rect">
            <a:avLst/>
          </a:prstGeom>
        </p:spPr>
      </p:pic>
      <p:pic>
        <p:nvPicPr>
          <p:cNvPr id="9" name="Picture 8">
            <a:extLst>
              <a:ext uri="{FF2B5EF4-FFF2-40B4-BE49-F238E27FC236}">
                <a16:creationId xmlns:a16="http://schemas.microsoft.com/office/drawing/2014/main" id="{2D2F7F76-D7C6-4864-80E2-90C6255ADA42}"/>
              </a:ext>
            </a:extLst>
          </p:cNvPr>
          <p:cNvPicPr>
            <a:picLocks noChangeAspect="1"/>
          </p:cNvPicPr>
          <p:nvPr/>
        </p:nvPicPr>
        <p:blipFill>
          <a:blip r:embed="rId5"/>
          <a:stretch>
            <a:fillRect/>
          </a:stretch>
        </p:blipFill>
        <p:spPr>
          <a:xfrm>
            <a:off x="6096000" y="4495801"/>
            <a:ext cx="3475037" cy="1143000"/>
          </a:xfrm>
          <a:prstGeom prst="rect">
            <a:avLst/>
          </a:prstGeom>
        </p:spPr>
      </p:pic>
    </p:spTree>
    <p:extLst>
      <p:ext uri="{BB962C8B-B14F-4D97-AF65-F5344CB8AC3E}">
        <p14:creationId xmlns:p14="http://schemas.microsoft.com/office/powerpoint/2010/main" val="485940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0C0F392-E670-4922-90A3-16AF9FBE3AA2}"/>
              </a:ext>
            </a:extLst>
          </p:cNvPr>
          <p:cNvPicPr>
            <a:picLocks noChangeAspect="1"/>
          </p:cNvPicPr>
          <p:nvPr/>
        </p:nvPicPr>
        <p:blipFill>
          <a:blip r:embed="rId2"/>
          <a:stretch>
            <a:fillRect/>
          </a:stretch>
        </p:blipFill>
        <p:spPr>
          <a:xfrm>
            <a:off x="503395" y="1203818"/>
            <a:ext cx="4851083" cy="3160616"/>
          </a:xfrm>
          <a:prstGeom prst="rect">
            <a:avLst/>
          </a:prstGeom>
        </p:spPr>
      </p:pic>
      <p:pic>
        <p:nvPicPr>
          <p:cNvPr id="3" name="Picture 2">
            <a:extLst>
              <a:ext uri="{FF2B5EF4-FFF2-40B4-BE49-F238E27FC236}">
                <a16:creationId xmlns:a16="http://schemas.microsoft.com/office/drawing/2014/main" id="{323BC8C4-31C2-4961-B9B5-ED5E3E838E21}"/>
              </a:ext>
            </a:extLst>
          </p:cNvPr>
          <p:cNvPicPr>
            <a:picLocks noChangeAspect="1"/>
          </p:cNvPicPr>
          <p:nvPr/>
        </p:nvPicPr>
        <p:blipFill>
          <a:blip r:embed="rId3"/>
          <a:stretch>
            <a:fillRect/>
          </a:stretch>
        </p:blipFill>
        <p:spPr>
          <a:xfrm>
            <a:off x="5697415" y="801970"/>
            <a:ext cx="5219114" cy="2933700"/>
          </a:xfrm>
          <a:prstGeom prst="rect">
            <a:avLst/>
          </a:prstGeom>
        </p:spPr>
      </p:pic>
      <p:pic>
        <p:nvPicPr>
          <p:cNvPr id="4" name="Picture 3">
            <a:extLst>
              <a:ext uri="{FF2B5EF4-FFF2-40B4-BE49-F238E27FC236}">
                <a16:creationId xmlns:a16="http://schemas.microsoft.com/office/drawing/2014/main" id="{5558EB4F-357F-4091-9886-CE2F580F5C04}"/>
              </a:ext>
            </a:extLst>
          </p:cNvPr>
          <p:cNvPicPr>
            <a:picLocks noChangeAspect="1"/>
          </p:cNvPicPr>
          <p:nvPr/>
        </p:nvPicPr>
        <p:blipFill>
          <a:blip r:embed="rId4"/>
          <a:stretch>
            <a:fillRect/>
          </a:stretch>
        </p:blipFill>
        <p:spPr>
          <a:xfrm>
            <a:off x="503395" y="5318911"/>
            <a:ext cx="4076700" cy="866775"/>
          </a:xfrm>
          <a:prstGeom prst="rect">
            <a:avLst/>
          </a:prstGeom>
        </p:spPr>
      </p:pic>
      <p:pic>
        <p:nvPicPr>
          <p:cNvPr id="5" name="Picture 4">
            <a:extLst>
              <a:ext uri="{FF2B5EF4-FFF2-40B4-BE49-F238E27FC236}">
                <a16:creationId xmlns:a16="http://schemas.microsoft.com/office/drawing/2014/main" id="{E4433E6B-7F39-4E99-9677-8C9C5D7C3E21}"/>
              </a:ext>
            </a:extLst>
          </p:cNvPr>
          <p:cNvPicPr>
            <a:picLocks noChangeAspect="1"/>
          </p:cNvPicPr>
          <p:nvPr/>
        </p:nvPicPr>
        <p:blipFill>
          <a:blip r:embed="rId5"/>
          <a:stretch>
            <a:fillRect/>
          </a:stretch>
        </p:blipFill>
        <p:spPr>
          <a:xfrm>
            <a:off x="6724357" y="4071136"/>
            <a:ext cx="3963718" cy="2495550"/>
          </a:xfrm>
          <a:prstGeom prst="rect">
            <a:avLst/>
          </a:prstGeom>
        </p:spPr>
      </p:pic>
      <p:sp>
        <p:nvSpPr>
          <p:cNvPr id="7" name="Rectangle 6">
            <a:extLst>
              <a:ext uri="{FF2B5EF4-FFF2-40B4-BE49-F238E27FC236}">
                <a16:creationId xmlns:a16="http://schemas.microsoft.com/office/drawing/2014/main" id="{125FDB7D-9B0E-4F74-962B-E3AB2453EE93}"/>
              </a:ext>
            </a:extLst>
          </p:cNvPr>
          <p:cNvSpPr/>
          <p:nvPr/>
        </p:nvSpPr>
        <p:spPr>
          <a:xfrm>
            <a:off x="434780" y="289786"/>
            <a:ext cx="6096000" cy="873572"/>
          </a:xfrm>
          <a:prstGeom prst="rect">
            <a:avLst/>
          </a:prstGeom>
        </p:spPr>
        <p:txBody>
          <a:bodyPr>
            <a:spAutoFit/>
          </a:bodyPr>
          <a:lstStyle/>
          <a:p>
            <a:pPr>
              <a:lnSpc>
                <a:spcPct val="150000"/>
              </a:lnSpc>
            </a:pPr>
            <a:r>
              <a:rPr lang="en-US" sz="1800" b="1" dirty="0">
                <a:latin typeface="Times New Roman" panose="02020603050405020304" pitchFamily="18" charset="0"/>
                <a:cs typeface="Times New Roman" panose="02020603050405020304" pitchFamily="18" charset="0"/>
              </a:rPr>
              <a:t>Business Question</a:t>
            </a:r>
          </a:p>
          <a:p>
            <a:pPr>
              <a:lnSpc>
                <a:spcPct val="150000"/>
              </a:lnSpc>
            </a:pPr>
            <a:r>
              <a:rPr lang="en-US" sz="1800" dirty="0">
                <a:latin typeface="Times New Roman" panose="02020603050405020304" pitchFamily="18" charset="0"/>
                <a:cs typeface="Times New Roman" panose="02020603050405020304" pitchFamily="18" charset="0"/>
              </a:rPr>
              <a:t>All the customers who are ‘Rock’ music listeners?</a:t>
            </a:r>
          </a:p>
        </p:txBody>
      </p:sp>
      <p:sp>
        <p:nvSpPr>
          <p:cNvPr id="8" name="Rectangle 7">
            <a:extLst>
              <a:ext uri="{FF2B5EF4-FFF2-40B4-BE49-F238E27FC236}">
                <a16:creationId xmlns:a16="http://schemas.microsoft.com/office/drawing/2014/main" id="{56D75D43-BC7F-4170-B6D9-ADA3B8AB8668}"/>
              </a:ext>
            </a:extLst>
          </p:cNvPr>
          <p:cNvSpPr/>
          <p:nvPr/>
        </p:nvSpPr>
        <p:spPr>
          <a:xfrm>
            <a:off x="503395" y="4364434"/>
            <a:ext cx="6220962" cy="873572"/>
          </a:xfrm>
          <a:prstGeom prst="rect">
            <a:avLst/>
          </a:prstGeom>
        </p:spPr>
        <p:txBody>
          <a:bodyPr wrap="square">
            <a:spAutoFit/>
          </a:bodyPr>
          <a:lstStyle/>
          <a:p>
            <a:pPr>
              <a:lnSpc>
                <a:spcPct val="150000"/>
              </a:lnSpc>
            </a:pPr>
            <a:r>
              <a:rPr lang="en-US" sz="1800" b="1" dirty="0">
                <a:latin typeface="Times New Roman" panose="02020603050405020304" pitchFamily="18" charset="0"/>
                <a:cs typeface="Times New Roman" panose="02020603050405020304" pitchFamily="18" charset="0"/>
              </a:rPr>
              <a:t>Business Question</a:t>
            </a:r>
          </a:p>
          <a:p>
            <a:pPr>
              <a:lnSpc>
                <a:spcPct val="150000"/>
              </a:lnSpc>
            </a:pPr>
            <a:r>
              <a:rPr lang="en-US" sz="1800" dirty="0">
                <a:latin typeface="Times New Roman" panose="02020603050405020304" pitchFamily="18" charset="0"/>
                <a:cs typeface="Times New Roman" panose="02020603050405020304" pitchFamily="18" charset="0"/>
              </a:rPr>
              <a:t>What are the tracks that are longer than the average song length?</a:t>
            </a:r>
          </a:p>
        </p:txBody>
      </p:sp>
    </p:spTree>
    <p:extLst>
      <p:ext uri="{BB962C8B-B14F-4D97-AF65-F5344CB8AC3E}">
        <p14:creationId xmlns:p14="http://schemas.microsoft.com/office/powerpoint/2010/main" val="2189354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8FAE92B-8DDC-42A7-A89E-63CDAE3A9CB1}"/>
              </a:ext>
            </a:extLst>
          </p:cNvPr>
          <p:cNvPicPr>
            <a:picLocks noChangeAspect="1"/>
          </p:cNvPicPr>
          <p:nvPr/>
        </p:nvPicPr>
        <p:blipFill>
          <a:blip r:embed="rId2"/>
          <a:stretch>
            <a:fillRect/>
          </a:stretch>
        </p:blipFill>
        <p:spPr>
          <a:xfrm>
            <a:off x="445476" y="1509346"/>
            <a:ext cx="6096000" cy="4230273"/>
          </a:xfrm>
          <a:prstGeom prst="rect">
            <a:avLst/>
          </a:prstGeom>
        </p:spPr>
      </p:pic>
      <p:pic>
        <p:nvPicPr>
          <p:cNvPr id="3" name="Picture 2">
            <a:extLst>
              <a:ext uri="{FF2B5EF4-FFF2-40B4-BE49-F238E27FC236}">
                <a16:creationId xmlns:a16="http://schemas.microsoft.com/office/drawing/2014/main" id="{149EB2EB-ACD7-48AC-A423-A72318F8A230}"/>
              </a:ext>
            </a:extLst>
          </p:cNvPr>
          <p:cNvPicPr>
            <a:picLocks noChangeAspect="1"/>
          </p:cNvPicPr>
          <p:nvPr/>
        </p:nvPicPr>
        <p:blipFill>
          <a:blip r:embed="rId3"/>
          <a:stretch>
            <a:fillRect/>
          </a:stretch>
        </p:blipFill>
        <p:spPr>
          <a:xfrm>
            <a:off x="6949441" y="1509346"/>
            <a:ext cx="4254524" cy="4061460"/>
          </a:xfrm>
          <a:prstGeom prst="rect">
            <a:avLst/>
          </a:prstGeom>
        </p:spPr>
      </p:pic>
      <p:sp>
        <p:nvSpPr>
          <p:cNvPr id="4" name="Rectangle 3">
            <a:extLst>
              <a:ext uri="{FF2B5EF4-FFF2-40B4-BE49-F238E27FC236}">
                <a16:creationId xmlns:a16="http://schemas.microsoft.com/office/drawing/2014/main" id="{4B4F3376-6CD1-4A68-8F7C-2A7479A1DF7A}"/>
              </a:ext>
            </a:extLst>
          </p:cNvPr>
          <p:cNvSpPr/>
          <p:nvPr/>
        </p:nvSpPr>
        <p:spPr>
          <a:xfrm>
            <a:off x="445476" y="518680"/>
            <a:ext cx="6096000" cy="873572"/>
          </a:xfrm>
          <a:prstGeom prst="rect">
            <a:avLst/>
          </a:prstGeom>
        </p:spPr>
        <p:txBody>
          <a:bodyPr>
            <a:spAutoFit/>
          </a:bodyPr>
          <a:lstStyle/>
          <a:p>
            <a:pPr>
              <a:lnSpc>
                <a:spcPct val="150000"/>
              </a:lnSpc>
            </a:pPr>
            <a:r>
              <a:rPr lang="en-US" sz="1800" b="1" dirty="0">
                <a:latin typeface="Times New Roman" panose="02020603050405020304" pitchFamily="18" charset="0"/>
                <a:cs typeface="Times New Roman" panose="02020603050405020304" pitchFamily="18" charset="0"/>
              </a:rPr>
              <a:t>Business Question</a:t>
            </a:r>
          </a:p>
          <a:p>
            <a:pPr>
              <a:lnSpc>
                <a:spcPct val="150000"/>
              </a:lnSpc>
            </a:pPr>
            <a:r>
              <a:rPr lang="en-US" sz="1800" dirty="0">
                <a:latin typeface="Times New Roman" panose="02020603050405020304" pitchFamily="18" charset="0"/>
                <a:cs typeface="Times New Roman" panose="02020603050405020304" pitchFamily="18" charset="0"/>
              </a:rPr>
              <a:t>What is the most popular genre for each country?</a:t>
            </a:r>
          </a:p>
        </p:txBody>
      </p:sp>
    </p:spTree>
    <p:extLst>
      <p:ext uri="{BB962C8B-B14F-4D97-AF65-F5344CB8AC3E}">
        <p14:creationId xmlns:p14="http://schemas.microsoft.com/office/powerpoint/2010/main" val="940099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0D0124E-61BC-4E77-8EF6-F76F58F13633}"/>
              </a:ext>
            </a:extLst>
          </p:cNvPr>
          <p:cNvSpPr/>
          <p:nvPr/>
        </p:nvSpPr>
        <p:spPr>
          <a:xfrm>
            <a:off x="586154" y="0"/>
            <a:ext cx="7587176" cy="4009046"/>
          </a:xfrm>
          <a:prstGeom prst="rect">
            <a:avLst/>
          </a:prstGeom>
        </p:spPr>
        <p:txBody>
          <a:bodyPr wrap="square">
            <a:spAutoFit/>
          </a:bodyPr>
          <a:lstStyle/>
          <a:p>
            <a:pPr>
              <a:lnSpc>
                <a:spcPct val="250000"/>
              </a:lnSpc>
            </a:pPr>
            <a:r>
              <a:rPr lang="en-US" sz="3200" b="1" dirty="0">
                <a:solidFill>
                  <a:srgbClr val="FF0000"/>
                </a:solidFill>
                <a:latin typeface="Times New Roman" panose="02020603050405020304" pitchFamily="18" charset="0"/>
                <a:cs typeface="Times New Roman" panose="02020603050405020304" pitchFamily="18" charset="0"/>
              </a:rPr>
              <a:t>Key Findings</a:t>
            </a:r>
          </a:p>
          <a:p>
            <a:pPr marL="285750" indent="-285750">
              <a:lnSpc>
                <a:spcPct val="20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Rock genre dominates sales. </a:t>
            </a:r>
          </a:p>
          <a:p>
            <a:pPr marL="285750" indent="-285750">
              <a:lnSpc>
                <a:spcPct val="20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Certain customers contribute significantly to revenue. </a:t>
            </a:r>
          </a:p>
          <a:p>
            <a:pPr marL="285750" indent="-285750">
              <a:lnSpc>
                <a:spcPct val="20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Customer preferences differ by country. </a:t>
            </a:r>
          </a:p>
          <a:p>
            <a:pPr marL="285750" indent="-285750">
              <a:lnSpc>
                <a:spcPct val="20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Popular artists generate a major share of sales. </a:t>
            </a:r>
          </a:p>
          <a:p>
            <a:pPr marL="285750" indent="-285750">
              <a:lnSpc>
                <a:spcPct val="20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SQL joins help connect customer behavior with music preferences</a:t>
            </a:r>
            <a:r>
              <a:rPr lang="en-US" dirty="0"/>
              <a:t>.</a:t>
            </a:r>
          </a:p>
        </p:txBody>
      </p:sp>
    </p:spTree>
    <p:extLst>
      <p:ext uri="{BB962C8B-B14F-4D97-AF65-F5344CB8AC3E}">
        <p14:creationId xmlns:p14="http://schemas.microsoft.com/office/powerpoint/2010/main" val="3847649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0D0124E-61BC-4E77-8EF6-F76F58F13633}"/>
              </a:ext>
            </a:extLst>
          </p:cNvPr>
          <p:cNvSpPr/>
          <p:nvPr/>
        </p:nvSpPr>
        <p:spPr>
          <a:xfrm>
            <a:off x="642425" y="168812"/>
            <a:ext cx="7587176" cy="1111843"/>
          </a:xfrm>
          <a:prstGeom prst="rect">
            <a:avLst/>
          </a:prstGeom>
        </p:spPr>
        <p:txBody>
          <a:bodyPr wrap="square">
            <a:spAutoFit/>
          </a:bodyPr>
          <a:lstStyle/>
          <a:p>
            <a:pPr>
              <a:lnSpc>
                <a:spcPct val="250000"/>
              </a:lnSpc>
            </a:pPr>
            <a:r>
              <a:rPr lang="en-US" sz="3200" b="1" dirty="0">
                <a:solidFill>
                  <a:srgbClr val="FF0000"/>
                </a:solidFill>
                <a:latin typeface="Times New Roman" panose="02020603050405020304" pitchFamily="18" charset="0"/>
                <a:cs typeface="Times New Roman" panose="02020603050405020304" pitchFamily="18" charset="0"/>
              </a:rPr>
              <a:t>Recommendations</a:t>
            </a:r>
            <a:r>
              <a:rPr lang="en-US" dirty="0"/>
              <a:t>.</a:t>
            </a:r>
          </a:p>
        </p:txBody>
      </p:sp>
      <p:sp>
        <p:nvSpPr>
          <p:cNvPr id="3" name="Rectangle 1">
            <a:extLst>
              <a:ext uri="{FF2B5EF4-FFF2-40B4-BE49-F238E27FC236}">
                <a16:creationId xmlns:a16="http://schemas.microsoft.com/office/drawing/2014/main" id="{B237BDB0-3658-47A1-8B37-57CD00A5F3E9}"/>
              </a:ext>
            </a:extLst>
          </p:cNvPr>
          <p:cNvSpPr>
            <a:spLocks noChangeArrowheads="1"/>
          </p:cNvSpPr>
          <p:nvPr/>
        </p:nvSpPr>
        <p:spPr bwMode="auto">
          <a:xfrm>
            <a:off x="829994" y="1065340"/>
            <a:ext cx="5750292" cy="360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Focus promotions on top-performing genres.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artist-specific marketing campaigns. </a:t>
            </a: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personalized music recommendations.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country-wise insights for targeted marketing.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Reward high-value customers through loyalty programs. </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Promote emerging genres to increase catalog visibility. </a:t>
            </a:r>
          </a:p>
        </p:txBody>
      </p:sp>
    </p:spTree>
    <p:extLst>
      <p:ext uri="{BB962C8B-B14F-4D97-AF65-F5344CB8AC3E}">
        <p14:creationId xmlns:p14="http://schemas.microsoft.com/office/powerpoint/2010/main" val="1498376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7E23BCC-0A83-4E82-A623-7C60A7D432A6}"/>
              </a:ext>
            </a:extLst>
          </p:cNvPr>
          <p:cNvSpPr/>
          <p:nvPr/>
        </p:nvSpPr>
        <p:spPr>
          <a:xfrm>
            <a:off x="473609" y="1140366"/>
            <a:ext cx="11399521" cy="2951064"/>
          </a:xfrm>
          <a:prstGeom prst="rect">
            <a:avLst/>
          </a:prstGeom>
        </p:spPr>
        <p:txBody>
          <a:bodyPr wrap="square">
            <a:spAutoFit/>
          </a:bodyPr>
          <a:lstStyle/>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Music Store Data Analysis project successfully demonstrated how SQL can be used to transform raw transactional data into meaningful business insights. By analyzing customer purchases, artist performance, music genres, and sales trends, valuable patterns in customer behavior and revenue generation were identified.</a:t>
            </a:r>
          </a:p>
          <a:p>
            <a:pPr marL="285750" indent="-285750">
              <a:lnSpc>
                <a:spcPct val="150000"/>
              </a:lnSpc>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Throughout the project, various SQL concepts such as joins, aggregate functions, subqueries, Common Table Expressions (CTEs), and window functions were applied to solve real-world business problems. The analysis helped identify top customers, popular genres, leading artists, and country-wise music preferences</a:t>
            </a:r>
          </a:p>
        </p:txBody>
      </p:sp>
      <p:sp>
        <p:nvSpPr>
          <p:cNvPr id="3" name="Rectangle 2">
            <a:extLst>
              <a:ext uri="{FF2B5EF4-FFF2-40B4-BE49-F238E27FC236}">
                <a16:creationId xmlns:a16="http://schemas.microsoft.com/office/drawing/2014/main" id="{10AB988B-E1EF-4C2B-B490-D38675E32AD2}"/>
              </a:ext>
            </a:extLst>
          </p:cNvPr>
          <p:cNvSpPr/>
          <p:nvPr/>
        </p:nvSpPr>
        <p:spPr>
          <a:xfrm>
            <a:off x="473609" y="4302445"/>
            <a:ext cx="11399521" cy="1289071"/>
          </a:xfrm>
          <a:prstGeom prst="rect">
            <a:avLst/>
          </a:prstGeom>
        </p:spPr>
        <p:txBody>
          <a:bodyPr wrap="square">
            <a:spAutoFit/>
          </a:bodyPr>
          <a:lstStyle/>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Overall, this project strengthened practical database management and analytical skills while showcasing the importance of data-driven decision-making in the music retail industry. It provided hands-on experience in extracting actionable insights from relational databases using SQL.</a:t>
            </a:r>
          </a:p>
        </p:txBody>
      </p:sp>
      <p:sp>
        <p:nvSpPr>
          <p:cNvPr id="4" name="Rectangle 3">
            <a:extLst>
              <a:ext uri="{FF2B5EF4-FFF2-40B4-BE49-F238E27FC236}">
                <a16:creationId xmlns:a16="http://schemas.microsoft.com/office/drawing/2014/main" id="{0AD255CE-5455-4B5F-BE01-FB7290B37194}"/>
              </a:ext>
            </a:extLst>
          </p:cNvPr>
          <p:cNvSpPr/>
          <p:nvPr/>
        </p:nvSpPr>
        <p:spPr>
          <a:xfrm>
            <a:off x="473609" y="555591"/>
            <a:ext cx="2145139" cy="584775"/>
          </a:xfrm>
          <a:prstGeom prst="rect">
            <a:avLst/>
          </a:prstGeom>
        </p:spPr>
        <p:txBody>
          <a:bodyPr wrap="none">
            <a:spAutoFit/>
          </a:bodyPr>
          <a:lstStyle/>
          <a:p>
            <a:r>
              <a:rPr lang="en-US" sz="3200" b="1" dirty="0">
                <a:solidFill>
                  <a:srgbClr val="FF0000"/>
                </a:solidFill>
                <a:latin typeface="Times New Roman" panose="02020603050405020304" pitchFamily="18" charset="0"/>
                <a:cs typeface="Times New Roman" panose="02020603050405020304" pitchFamily="18" charset="0"/>
              </a:rPr>
              <a:t>Conclusion</a:t>
            </a:r>
            <a:endParaRPr lang="en-US" sz="3200" dirty="0"/>
          </a:p>
        </p:txBody>
      </p:sp>
    </p:spTree>
    <p:extLst>
      <p:ext uri="{BB962C8B-B14F-4D97-AF65-F5344CB8AC3E}">
        <p14:creationId xmlns:p14="http://schemas.microsoft.com/office/powerpoint/2010/main" val="1017411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descr="Presentation Q&amp;A | PDF">
            <a:extLst>
              <a:ext uri="{FF2B5EF4-FFF2-40B4-BE49-F238E27FC236}">
                <a16:creationId xmlns:a16="http://schemas.microsoft.com/office/drawing/2014/main" id="{0696BE51-5AA9-4915-89E6-54C7073688B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6" descr="Presentation Q&amp;A | PDF">
            <a:extLst>
              <a:ext uri="{FF2B5EF4-FFF2-40B4-BE49-F238E27FC236}">
                <a16:creationId xmlns:a16="http://schemas.microsoft.com/office/drawing/2014/main" id="{44ACF674-E029-4CF3-A069-14DE2BD4BE9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8" descr="Presentation Q&amp;A | PDF">
            <a:extLst>
              <a:ext uri="{FF2B5EF4-FFF2-40B4-BE49-F238E27FC236}">
                <a16:creationId xmlns:a16="http://schemas.microsoft.com/office/drawing/2014/main" id="{8D07CAC0-7D7B-41F4-B398-24EA21CBA6F7}"/>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130" name="Picture 10" descr="QA - acronym from wooden blocks with letters, questions and answers concept, top view on white background">
            <a:extLst>
              <a:ext uri="{FF2B5EF4-FFF2-40B4-BE49-F238E27FC236}">
                <a16:creationId xmlns:a16="http://schemas.microsoft.com/office/drawing/2014/main" id="{3704D4A8-1268-4C75-98B9-ABCE0876F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246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4121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TotalTime>
  <Words>649</Words>
  <Application>Microsoft Office PowerPoint</Application>
  <PresentationFormat>Widescreen</PresentationFormat>
  <Paragraphs>132</Paragraphs>
  <Slides>16</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Lato Black</vt:lpstr>
      <vt:lpstr>Libre Baskerville</vt:lpstr>
      <vt:lpstr>Times New Roman</vt:lpstr>
      <vt:lpstr>Calibri</vt:lpstr>
      <vt:lpstr>Arial</vt:lpstr>
      <vt:lpstr>Office Theme</vt:lpstr>
      <vt:lpstr>PowerPoint Presentation</vt:lpstr>
      <vt:lpstr>PowerPoint Presentation</vt:lpstr>
      <vt:lpstr>Agenda</vt:lpstr>
      <vt:lpstr>Business Problem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Admin</cp:lastModifiedBy>
  <cp:revision>22</cp:revision>
  <dcterms:created xsi:type="dcterms:W3CDTF">2021-02-16T05:19:01Z</dcterms:created>
  <dcterms:modified xsi:type="dcterms:W3CDTF">2026-06-20T01:18:12Z</dcterms:modified>
</cp:coreProperties>
</file>